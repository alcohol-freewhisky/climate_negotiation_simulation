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485"/>
    <p:restoredTop sz="28941"/>
  </p:normalViewPr>
  <p:slideViewPr>
    <p:cSldViewPr snapToGrid="0" snapToObjects="1">
      <p:cViewPr varScale="1">
        <p:scale>
          <a:sx n="34" d="100"/>
          <a:sy n="34" d="100"/>
        </p:scale>
        <p:origin x="3688"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78A998-4AC9-0F4B-8C9B-807FCA9E311F}" type="datetimeFigureOut">
              <a:rPr lang="en-US" smtClean="0"/>
              <a:t>4/14/26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36FCB8-6203-9843-9C4B-B8D58BCFE273}" type="slidenum">
              <a:rPr lang="en-US" smtClean="0"/>
              <a:t>‹#›</a:t>
            </a:fld>
            <a:endParaRPr lang="en-US"/>
          </a:p>
        </p:txBody>
      </p:sp>
    </p:spTree>
    <p:extLst>
      <p:ext uri="{BB962C8B-B14F-4D97-AF65-F5344CB8AC3E}">
        <p14:creationId xmlns:p14="http://schemas.microsoft.com/office/powerpoint/2010/main" val="224431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google.com/search?q=United+Nations+Framework+Convention+on+Climate+Change&amp;sca_esv=9fb2dbe6099668d1&amp;rlz=1C5OZZY_enUS1178US1178&amp;biw=1512&amp;bih=857&amp;sxsrf=ANbL-n7ZaV0mh30NGL27O_2QLtkuEQfA5w%3A1776136659119&amp;ei=07HdafKCB-WGptQP7aXs6AM&amp;ved=2ahUKEwjEkoOj0uyTAxW4EVkFHZ6FBGYQgK4QegYIAQgAEAM&amp;uact=5&amp;oq=unfccc&amp;gs_lp=Egxnd3Mtd2l6LXNlcnAiBnVuZmNjYzINEAAYgAQYigUYQxixAzIKEAAYgAQYigUYQzIFEAAYgAQyBRAAGIAEMgUQABiABDIFEAAYgAQyBRAAGIAEMgUQABiABDIFEAAYgAQyBRAAGIAESLQUUOcHWKoScAF4AZABAJgBWqAB7AOqAQE3uAEDyAEA-AEBmAIIoAKVBKgCEMICBxAjGOoCGCfCAg0QIxjwBRieBhjqAhgnwgIXEAAYgAQYigUYkQIY5wYY6gIYtALYAQHCAgUQLhiABMICFBAuGIAEGJcFGNwEGN4EGOAE2AEBwgIIEAAYgAQYogTCAgUQABjvBcICCBAAGIAEGLEDwgILEAAYgAQYsQMYgwHCAhAQLhiABBiKBRhDGMcBGNEDwgIGEAAYFhgewgIIEAAYFhgeGArCAgoQABiABBgNGLEDwgIHEAAYgAQYDZgDBfEFUgYWnE3q5kG6BgYIARABGAGSBwE4oAf7JrIHATe4B5AEwgcFMC4zLjXIBxyACAE&amp;sclient=gws-wiz-serp"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Today I will present my project, </a:t>
            </a:r>
            <a:r>
              <a:rPr lang="en-US" sz="1200" b="0" i="1" kern="1200" dirty="0">
                <a:solidFill>
                  <a:schemeClr val="tx1"/>
                </a:solidFill>
                <a:effectLst/>
                <a:latin typeface="+mn-lt"/>
                <a:ea typeface="+mn-ea"/>
                <a:cs typeface="+mn-cs"/>
              </a:rPr>
              <a:t>Climate Negotiation Simulation</a:t>
            </a:r>
            <a:r>
              <a:rPr lang="en-US" sz="1200" b="0" i="0" kern="1200" dirty="0">
                <a:solidFill>
                  <a:schemeClr val="tx1"/>
                </a:solidFill>
                <a:effectLst/>
                <a:latin typeface="+mn-lt"/>
                <a:ea typeface="+mn-ea"/>
                <a:cs typeface="+mn-cs"/>
              </a:rPr>
              <a:t>, a multi-agent LLM framework for simulating UNFCCC-style bargaining.</a:t>
            </a:r>
            <a:r>
              <a:rPr lang="zh-CN" altLang="en-US" sz="1200" b="0" i="0" kern="1200" dirty="0">
                <a:solidFill>
                  <a:schemeClr val="tx1"/>
                </a:solidFill>
                <a:effectLst/>
                <a:latin typeface="+mn-lt"/>
                <a:ea typeface="+mn-ea"/>
                <a:cs typeface="+mn-cs"/>
              </a:rPr>
              <a:t> </a:t>
            </a:r>
            <a:r>
              <a:rPr lang="en-US" sz="1200" b="0" i="0" kern="1200" dirty="0">
                <a:solidFill>
                  <a:schemeClr val="tx1"/>
                </a:solidFill>
                <a:effectLst/>
                <a:latin typeface="+mn-lt"/>
                <a:ea typeface="+mn-ea"/>
                <a:cs typeface="+mn-cs"/>
              </a:rPr>
              <a:t>The </a:t>
            </a:r>
            <a:r>
              <a:rPr lang="en-US" sz="1200" b="0" i="0" kern="1200" dirty="0">
                <a:solidFill>
                  <a:schemeClr val="tx1"/>
                </a:solidFill>
                <a:effectLst/>
                <a:latin typeface="+mn-lt"/>
                <a:ea typeface="+mn-ea"/>
                <a:cs typeface="+mn-cs"/>
                <a:hlinkClick r:id="rId3"/>
              </a:rPr>
              <a:t>United Nations Framework Convention on Climate Change</a:t>
            </a:r>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core idea is to move beyond single-agent text generation and instead model negotiation as a structured, multi-party process. In this system, different agents represent major negotiating blocs, interact over real draft text, and try to move toward a final decision through a chair-mediated workflow.</a:t>
            </a:r>
          </a:p>
          <a:p>
            <a:r>
              <a:rPr lang="en-US" sz="1200" b="0" i="0" kern="1200" dirty="0">
                <a:solidFill>
                  <a:schemeClr val="tx1"/>
                </a:solidFill>
                <a:effectLst/>
                <a:latin typeface="+mn-lt"/>
                <a:ea typeface="+mn-ea"/>
                <a:cs typeface="+mn-cs"/>
              </a:rPr>
              <a:t>This project is designed as both a working software system and a research platform for studying how large language models behave in politically constrained, text-based negotiations.</a:t>
            </a:r>
          </a:p>
          <a:p>
            <a:br>
              <a:rPr lang="en-US" dirty="0"/>
            </a:br>
            <a:endParaRPr lang="en-US" dirty="0"/>
          </a:p>
        </p:txBody>
      </p:sp>
      <p:sp>
        <p:nvSpPr>
          <p:cNvPr id="4" name="Slide Number Placeholder 3"/>
          <p:cNvSpPr>
            <a:spLocks noGrp="1"/>
          </p:cNvSpPr>
          <p:nvPr>
            <p:ph type="sldNum" sz="quarter" idx="5"/>
          </p:nvPr>
        </p:nvSpPr>
        <p:spPr/>
        <p:txBody>
          <a:bodyPr/>
          <a:lstStyle/>
          <a:p>
            <a:fld id="{A536FCB8-6203-9843-9C4B-B8D58BCFE273}" type="slidenum">
              <a:rPr lang="en-US" smtClean="0"/>
              <a:t>1</a:t>
            </a:fld>
            <a:endParaRPr lang="en-US"/>
          </a:p>
        </p:txBody>
      </p:sp>
    </p:spTree>
    <p:extLst>
      <p:ext uri="{BB962C8B-B14F-4D97-AF65-F5344CB8AC3E}">
        <p14:creationId xmlns:p14="http://schemas.microsoft.com/office/powerpoint/2010/main" val="41938912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UNFCCC negotiations are difficult to simulate because they are not just about preferences. They are fundamentally about text, procedure, and consensus.</a:t>
            </a:r>
          </a:p>
          <a:p>
            <a:r>
              <a:rPr lang="en-US" sz="1200" b="0" i="0" kern="1200" dirty="0">
                <a:solidFill>
                  <a:schemeClr val="tx1"/>
                </a:solidFill>
                <a:effectLst/>
                <a:latin typeface="+mn-lt"/>
                <a:ea typeface="+mn-ea"/>
                <a:cs typeface="+mn-cs"/>
              </a:rPr>
              <a:t>Parties negotiate paragraph by paragraph, defend red lines, form coalitions, and react to chair proposals over multiple rounds. So the final outcome depends not only on what each actor wants, but also on how the drafting process unfolds.</a:t>
            </a:r>
          </a:p>
          <a:p>
            <a:r>
              <a:rPr lang="en-US" sz="1200" b="0" i="0" kern="1200" dirty="0">
                <a:solidFill>
                  <a:schemeClr val="tx1"/>
                </a:solidFill>
                <a:effectLst/>
                <a:latin typeface="+mn-lt"/>
                <a:ea typeface="+mn-ea"/>
                <a:cs typeface="+mn-cs"/>
              </a:rPr>
              <a:t>This makes climate negotiations a strong test case for multi-agent LLM systems. A useful model here must do more than produce fluent language. It has to preserve distinct political identities, respond to evolving text, and distinguish between a document that looks realistic and one that is actually politically acceptable.</a:t>
            </a:r>
          </a:p>
          <a:p>
            <a:endParaRPr lang="en-US" dirty="0"/>
          </a:p>
        </p:txBody>
      </p:sp>
      <p:sp>
        <p:nvSpPr>
          <p:cNvPr id="4" name="Slide Number Placeholder 3"/>
          <p:cNvSpPr>
            <a:spLocks noGrp="1"/>
          </p:cNvSpPr>
          <p:nvPr>
            <p:ph type="sldNum" sz="quarter" idx="5"/>
          </p:nvPr>
        </p:nvSpPr>
        <p:spPr/>
        <p:txBody>
          <a:bodyPr/>
          <a:lstStyle/>
          <a:p>
            <a:fld id="{A536FCB8-6203-9843-9C4B-B8D58BCFE273}" type="slidenum">
              <a:rPr lang="en-US" smtClean="0"/>
              <a:t>2</a:t>
            </a:fld>
            <a:endParaRPr lang="en-US"/>
          </a:p>
        </p:txBody>
      </p:sp>
    </p:spTree>
    <p:extLst>
      <p:ext uri="{BB962C8B-B14F-4D97-AF65-F5344CB8AC3E}">
        <p14:creationId xmlns:p14="http://schemas.microsoft.com/office/powerpoint/2010/main" val="21944218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goal of this project is to build an end-to-end system that can simulate bloc-level climate negotiations over real draft text.</a:t>
            </a:r>
          </a:p>
          <a:p>
            <a:r>
              <a:rPr lang="en-US" sz="1200" b="0" i="0" kern="1200" dirty="0">
                <a:solidFill>
                  <a:schemeClr val="tx1"/>
                </a:solidFill>
                <a:effectLst/>
                <a:latin typeface="+mn-lt"/>
                <a:ea typeface="+mn-ea"/>
                <a:cs typeface="+mn-cs"/>
              </a:rPr>
              <a:t>More specifically, I want the system to do four things.</a:t>
            </a:r>
          </a:p>
          <a:p>
            <a:r>
              <a:rPr lang="en-US" sz="1200" b="0" i="0" kern="1200" dirty="0">
                <a:solidFill>
                  <a:schemeClr val="tx1"/>
                </a:solidFill>
                <a:effectLst/>
                <a:latin typeface="+mn-lt"/>
                <a:ea typeface="+mn-ea"/>
                <a:cs typeface="+mn-cs"/>
              </a:rPr>
              <a:t>First, represent major negotiating blocs with persistent identities, principles, and red lines.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Second, follow a realistic workflow, rather than generating a final answer in one step.</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Third, produce revisable decision text that evolves over rounds.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And fourth, evaluate the output against a real negotiated outcome, while also measuring whether the final package is politically passable.</a:t>
            </a:r>
          </a:p>
          <a:p>
            <a:r>
              <a:rPr lang="en-US" sz="1200" b="0" i="0" kern="1200" dirty="0">
                <a:solidFill>
                  <a:schemeClr val="tx1"/>
                </a:solidFill>
                <a:effectLst/>
                <a:latin typeface="+mn-lt"/>
                <a:ea typeface="+mn-ea"/>
                <a:cs typeface="+mn-cs"/>
              </a:rPr>
              <a:t>So the project is not only about text generation quality. It is about process realism and political realism together.</a:t>
            </a:r>
          </a:p>
          <a:p>
            <a:endParaRPr lang="en-US" dirty="0"/>
          </a:p>
        </p:txBody>
      </p:sp>
      <p:sp>
        <p:nvSpPr>
          <p:cNvPr id="4" name="Slide Number Placeholder 3"/>
          <p:cNvSpPr>
            <a:spLocks noGrp="1"/>
          </p:cNvSpPr>
          <p:nvPr>
            <p:ph type="sldNum" sz="quarter" idx="5"/>
          </p:nvPr>
        </p:nvSpPr>
        <p:spPr/>
        <p:txBody>
          <a:bodyPr/>
          <a:lstStyle/>
          <a:p>
            <a:fld id="{A536FCB8-6203-9843-9C4B-B8D58BCFE273}" type="slidenum">
              <a:rPr lang="en-US" smtClean="0"/>
              <a:t>3</a:t>
            </a:fld>
            <a:endParaRPr lang="en-US"/>
          </a:p>
        </p:txBody>
      </p:sp>
    </p:spTree>
    <p:extLst>
      <p:ext uri="{BB962C8B-B14F-4D97-AF65-F5344CB8AC3E}">
        <p14:creationId xmlns:p14="http://schemas.microsoft.com/office/powerpoint/2010/main" val="31772739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workflow has four phases.</a:t>
            </a:r>
          </a:p>
          <a:p>
            <a:r>
              <a:rPr lang="en-US" sz="1200" b="0" i="0" kern="1200" dirty="0">
                <a:solidFill>
                  <a:schemeClr val="tx1"/>
                </a:solidFill>
                <a:effectLst/>
                <a:latin typeface="+mn-lt"/>
                <a:ea typeface="+mn-ea"/>
                <a:cs typeface="+mn-cs"/>
              </a:rPr>
              <a:t>The first phase is opening statements, where each bloc sets out its priorities and concerns.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second phase is first reading, where agents react to specific paragraphs and propose amendments.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third phase is informal consultations, which is the main bargaining stage. This is where agents negotiate contested language and the chair synthesizes proposals into revised text.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fourth phase is final plenary, where the system presents a clean text for adoption and each bloc decides whether to accept or block.</a:t>
            </a:r>
          </a:p>
          <a:p>
            <a:r>
              <a:rPr lang="en-US" sz="1200" b="0" i="0" kern="1200" dirty="0">
                <a:solidFill>
                  <a:schemeClr val="tx1"/>
                </a:solidFill>
                <a:effectLst/>
                <a:latin typeface="+mn-lt"/>
                <a:ea typeface="+mn-ea"/>
                <a:cs typeface="+mn-cs"/>
              </a:rPr>
              <a:t>This phased design is important because it creates a negotiation trajectory. Agents do not just produce preferences. They respond to text, to prior moves, and to the evolving state of the package.</a:t>
            </a:r>
          </a:p>
          <a:p>
            <a:endParaRPr lang="en-US" dirty="0"/>
          </a:p>
        </p:txBody>
      </p:sp>
      <p:sp>
        <p:nvSpPr>
          <p:cNvPr id="4" name="Slide Number Placeholder 3"/>
          <p:cNvSpPr>
            <a:spLocks noGrp="1"/>
          </p:cNvSpPr>
          <p:nvPr>
            <p:ph type="sldNum" sz="quarter" idx="5"/>
          </p:nvPr>
        </p:nvSpPr>
        <p:spPr/>
        <p:txBody>
          <a:bodyPr/>
          <a:lstStyle/>
          <a:p>
            <a:fld id="{A536FCB8-6203-9843-9C4B-B8D58BCFE273}" type="slidenum">
              <a:rPr lang="en-US" smtClean="0"/>
              <a:t>4</a:t>
            </a:fld>
            <a:endParaRPr lang="en-US"/>
          </a:p>
        </p:txBody>
      </p:sp>
    </p:spTree>
    <p:extLst>
      <p:ext uri="{BB962C8B-B14F-4D97-AF65-F5344CB8AC3E}">
        <p14:creationId xmlns:p14="http://schemas.microsoft.com/office/powerpoint/2010/main" val="34974957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At the implementation level, the repository has three main layers.</a:t>
            </a:r>
          </a:p>
          <a:p>
            <a:r>
              <a:rPr lang="en-US" sz="1200" b="0" i="0" kern="1200" dirty="0">
                <a:solidFill>
                  <a:schemeClr val="tx1"/>
                </a:solidFill>
                <a:effectLst/>
                <a:latin typeface="+mn-lt"/>
                <a:ea typeface="+mn-ea"/>
                <a:cs typeface="+mn-cs"/>
              </a:rPr>
              <a:t>The first is the negotiation engine, which manages phases, turns, amendments, and text revision.</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second is the agent layer, which includes eight negotiating blocs and a neutral chair.</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third is the evaluation layer, which scores the results with both text-based and process-based metrics.</a:t>
            </a:r>
          </a:p>
          <a:p>
            <a:r>
              <a:rPr lang="en-US" sz="1200" b="0" i="0" kern="1200" dirty="0">
                <a:solidFill>
                  <a:schemeClr val="tx1"/>
                </a:solidFill>
                <a:effectLst/>
                <a:latin typeface="+mn-lt"/>
                <a:ea typeface="+mn-ea"/>
                <a:cs typeface="+mn-cs"/>
              </a:rPr>
              <a:t>A key design choice is that each bloc has a general charter stored in configuration files. These profiles are not hardcoded for one specific agenda item. Instead, during runtime the system narrows each agent’s focus to the issues most relevant to the current scenario and paragraph.</a:t>
            </a:r>
          </a:p>
          <a:p>
            <a:r>
              <a:rPr lang="en-US" sz="1200" b="0" i="0" kern="1200" dirty="0">
                <a:solidFill>
                  <a:schemeClr val="tx1"/>
                </a:solidFill>
                <a:effectLst/>
                <a:latin typeface="+mn-lt"/>
                <a:ea typeface="+mn-ea"/>
                <a:cs typeface="+mn-cs"/>
              </a:rPr>
              <a:t>That helps preserve generality while still allowing issue-specific behavior during the negotiation itself.</a:t>
            </a:r>
          </a:p>
          <a:p>
            <a:endParaRPr lang="en-US" dirty="0"/>
          </a:p>
        </p:txBody>
      </p:sp>
      <p:sp>
        <p:nvSpPr>
          <p:cNvPr id="4" name="Slide Number Placeholder 3"/>
          <p:cNvSpPr>
            <a:spLocks noGrp="1"/>
          </p:cNvSpPr>
          <p:nvPr>
            <p:ph type="sldNum" sz="quarter" idx="5"/>
          </p:nvPr>
        </p:nvSpPr>
        <p:spPr/>
        <p:txBody>
          <a:bodyPr/>
          <a:lstStyle/>
          <a:p>
            <a:fld id="{A536FCB8-6203-9843-9C4B-B8D58BCFE273}" type="slidenum">
              <a:rPr lang="en-US" smtClean="0"/>
              <a:t>5</a:t>
            </a:fld>
            <a:endParaRPr lang="en-US"/>
          </a:p>
        </p:txBody>
      </p:sp>
    </p:spTree>
    <p:extLst>
      <p:ext uri="{BB962C8B-B14F-4D97-AF65-F5344CB8AC3E}">
        <p14:creationId xmlns:p14="http://schemas.microsoft.com/office/powerpoint/2010/main" val="34076380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current case study focuses on Article 6.8 of the Paris Agreement, which concerns the framework for non-market approaches.</a:t>
            </a:r>
          </a:p>
          <a:p>
            <a:r>
              <a:rPr lang="en-US" sz="1200" b="0" i="0" kern="1200" dirty="0">
                <a:solidFill>
                  <a:schemeClr val="tx1"/>
                </a:solidFill>
                <a:effectLst/>
                <a:latin typeface="+mn-lt"/>
                <a:ea typeface="+mn-ea"/>
                <a:cs typeface="+mn-cs"/>
              </a:rPr>
              <a:t>The simulation includes eight major negotiating blocs: the EU, G77 and China, AOSIS, the Umbrella Group, the Least Developed Countries group, the African Group, the Like-Minded Developing Countries, and the Environmental Integrity Group. A chair agent manages the process.</a:t>
            </a:r>
          </a:p>
          <a:p>
            <a:r>
              <a:rPr lang="en-US" sz="1200" b="0" i="0" kern="1200" dirty="0">
                <a:solidFill>
                  <a:schemeClr val="tx1"/>
                </a:solidFill>
                <a:effectLst/>
                <a:latin typeface="+mn-lt"/>
                <a:ea typeface="+mn-ea"/>
                <a:cs typeface="+mn-cs"/>
              </a:rPr>
              <a:t>The default backend currently uses DeepSeek, although the framework also supports OpenAI and Anthropic backends.</a:t>
            </a:r>
          </a:p>
          <a:p>
            <a:r>
              <a:rPr lang="en-US" sz="1200" b="0" i="0" kern="1200" dirty="0">
                <a:solidFill>
                  <a:schemeClr val="tx1"/>
                </a:solidFill>
                <a:effectLst/>
                <a:latin typeface="+mn-lt"/>
                <a:ea typeface="+mn-ea"/>
                <a:cs typeface="+mn-cs"/>
              </a:rPr>
              <a:t>The main disputed issues in this scenario are scope, governance, the relationship to market mechanisms, institutional arrangements, and reporting requirements.</a:t>
            </a:r>
          </a:p>
          <a:p>
            <a:r>
              <a:rPr lang="en-US" sz="1200" b="0" i="0" kern="1200" dirty="0">
                <a:solidFill>
                  <a:schemeClr val="tx1"/>
                </a:solidFill>
                <a:effectLst/>
                <a:latin typeface="+mn-lt"/>
                <a:ea typeface="+mn-ea"/>
                <a:cs typeface="+mn-cs"/>
              </a:rPr>
              <a:t>On the software side, the repository is fully executable. The tests pass, the dry-run works, and outputs are saved per run for later analysis.</a:t>
            </a:r>
          </a:p>
          <a:p>
            <a:endParaRPr lang="en-US" dirty="0"/>
          </a:p>
        </p:txBody>
      </p:sp>
      <p:sp>
        <p:nvSpPr>
          <p:cNvPr id="4" name="Slide Number Placeholder 3"/>
          <p:cNvSpPr>
            <a:spLocks noGrp="1"/>
          </p:cNvSpPr>
          <p:nvPr>
            <p:ph type="sldNum" sz="quarter" idx="5"/>
          </p:nvPr>
        </p:nvSpPr>
        <p:spPr/>
        <p:txBody>
          <a:bodyPr/>
          <a:lstStyle/>
          <a:p>
            <a:fld id="{A536FCB8-6203-9843-9C4B-B8D58BCFE273}" type="slidenum">
              <a:rPr lang="en-US" smtClean="0"/>
              <a:t>6</a:t>
            </a:fld>
            <a:endParaRPr lang="en-US"/>
          </a:p>
        </p:txBody>
      </p:sp>
    </p:spTree>
    <p:extLst>
      <p:ext uri="{BB962C8B-B14F-4D97-AF65-F5344CB8AC3E}">
        <p14:creationId xmlns:p14="http://schemas.microsoft.com/office/powerpoint/2010/main" val="27559742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 current results show a useful pattern.</a:t>
            </a:r>
          </a:p>
          <a:p>
            <a:r>
              <a:rPr lang="en-US" sz="1200" b="0" i="0" kern="1200" dirty="0">
                <a:solidFill>
                  <a:schemeClr val="tx1"/>
                </a:solidFill>
                <a:effectLst/>
                <a:latin typeface="+mn-lt"/>
                <a:ea typeface="+mn-ea"/>
                <a:cs typeface="+mn-cs"/>
              </a:rPr>
              <a:t>On the one hand, the system is already quite strong at producing realistic decision text. In some runs, ROUGE-L and </a:t>
            </a:r>
            <a:r>
              <a:rPr lang="en-US" sz="1200" b="0" i="0" kern="1200" dirty="0" err="1">
                <a:solidFill>
                  <a:schemeClr val="tx1"/>
                </a:solidFill>
                <a:effectLst/>
                <a:latin typeface="+mn-lt"/>
                <a:ea typeface="+mn-ea"/>
                <a:cs typeface="+mn-cs"/>
              </a:rPr>
              <a:t>BERTScore</a:t>
            </a:r>
            <a:r>
              <a:rPr lang="en-US" sz="1200" b="0" i="0" kern="1200" dirty="0">
                <a:solidFill>
                  <a:schemeClr val="tx1"/>
                </a:solidFill>
                <a:effectLst/>
                <a:latin typeface="+mn-lt"/>
                <a:ea typeface="+mn-ea"/>
                <a:cs typeface="+mn-cs"/>
              </a:rPr>
              <a:t> are relatively high, and the generated structure is close to the reference decision.</a:t>
            </a:r>
            <a:r>
              <a:rPr lang="zh-CN" altLang="en-US" sz="1200" b="0" i="0" kern="1200" dirty="0">
                <a:solidFill>
                  <a:schemeClr val="tx1"/>
                </a:solidFill>
                <a:effectLst/>
                <a:latin typeface="+mn-lt"/>
                <a:ea typeface="+mn-ea"/>
                <a:cs typeface="+mn-cs"/>
              </a:rPr>
              <a:t> </a:t>
            </a:r>
            <a:r>
              <a:rPr lang="en-US" dirty="0"/>
              <a:t>ROUGE-L measures how much the generated text overlaps with the reference text in wording and order.</a:t>
            </a:r>
          </a:p>
          <a:p>
            <a:r>
              <a:rPr lang="en-US" dirty="0" err="1"/>
              <a:t>BERTScore</a:t>
            </a:r>
            <a:r>
              <a:rPr lang="en-US" dirty="0"/>
              <a:t> measures how similar the generated text is to the reference in meaning, using contextual word embeddings, so it can reward paraphrases even when the exact words differ.</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On the other hand, political acceptability remains harder than textual similarity. In other words, the system can generate text that looks plausible before it can consistently generate a package that all blocs are willing to adopt.</a:t>
            </a:r>
          </a:p>
          <a:p>
            <a:r>
              <a:rPr lang="en-US" sz="1200" b="0" i="0" kern="1200" dirty="0">
                <a:solidFill>
                  <a:schemeClr val="tx1"/>
                </a:solidFill>
                <a:effectLst/>
                <a:latin typeface="+mn-lt"/>
                <a:ea typeface="+mn-ea"/>
                <a:cs typeface="+mn-cs"/>
              </a:rPr>
              <a:t>This is actually an important finding. It shows that negotiation quality and reference alignment are not the same thing. A model can produce fluent, realistic text while still failing at the coalition balancing needed for consensus.</a:t>
            </a:r>
          </a:p>
          <a:p>
            <a:r>
              <a:rPr lang="en-US" sz="1200" b="0" i="0" kern="1200" dirty="0">
                <a:solidFill>
                  <a:schemeClr val="tx1"/>
                </a:solidFill>
                <a:effectLst/>
                <a:latin typeface="+mn-lt"/>
                <a:ea typeface="+mn-ea"/>
                <a:cs typeface="+mn-cs"/>
              </a:rPr>
              <a:t>So the main challenge has shifted from basic generation to endgame convergence.</a:t>
            </a:r>
          </a:p>
          <a:p>
            <a:endParaRPr lang="en-US" dirty="0"/>
          </a:p>
          <a:p>
            <a:r>
              <a:rPr lang="en-US" altLang="zh-CN" dirty="0"/>
              <a:t>Show</a:t>
            </a:r>
            <a:r>
              <a:rPr lang="zh-CN" altLang="en-US" dirty="0"/>
              <a:t> </a:t>
            </a:r>
            <a:r>
              <a:rPr lang="en-US" altLang="zh-CN" dirty="0"/>
              <a:t>negotiation</a:t>
            </a:r>
            <a:r>
              <a:rPr lang="zh-CN" altLang="en-US" dirty="0"/>
              <a:t> </a:t>
            </a:r>
            <a:r>
              <a:rPr lang="en-US" altLang="zh-CN" dirty="0"/>
              <a:t>text</a:t>
            </a:r>
            <a:r>
              <a:rPr lang="zh-CN" altLang="en-US" dirty="0"/>
              <a:t> </a:t>
            </a:r>
            <a:r>
              <a:rPr lang="en-US" altLang="zh-CN" dirty="0"/>
              <a:t>and</a:t>
            </a:r>
            <a:r>
              <a:rPr lang="zh-CN" altLang="en-US" dirty="0"/>
              <a:t> </a:t>
            </a:r>
            <a:r>
              <a:rPr lang="en-US" altLang="zh-CN" dirty="0"/>
              <a:t>what</a:t>
            </a:r>
            <a:r>
              <a:rPr lang="zh-CN" altLang="en-US" dirty="0"/>
              <a:t> </a:t>
            </a:r>
            <a:r>
              <a:rPr lang="en-US" altLang="zh-CN" dirty="0"/>
              <a:t>group</a:t>
            </a:r>
            <a:r>
              <a:rPr lang="zh-CN" altLang="en-US" dirty="0"/>
              <a:t> </a:t>
            </a:r>
            <a:r>
              <a:rPr lang="en-US" altLang="zh-CN" dirty="0"/>
              <a:t>thinks</a:t>
            </a:r>
            <a:r>
              <a:rPr lang="zh-CN" altLang="en-US" dirty="0"/>
              <a:t> </a:t>
            </a:r>
            <a:r>
              <a:rPr lang="en-US" altLang="zh-CN" dirty="0"/>
              <a:t>what</a:t>
            </a:r>
          </a:p>
          <a:p>
            <a:r>
              <a:rPr lang="en-US" altLang="zh-CN" dirty="0"/>
              <a:t>Think</a:t>
            </a:r>
            <a:r>
              <a:rPr lang="zh-CN" altLang="en-US" dirty="0"/>
              <a:t> </a:t>
            </a:r>
            <a:r>
              <a:rPr lang="en-US" altLang="zh-CN" dirty="0"/>
              <a:t>about</a:t>
            </a:r>
            <a:r>
              <a:rPr lang="zh-CN" altLang="en-US" dirty="0"/>
              <a:t> </a:t>
            </a:r>
            <a:r>
              <a:rPr lang="en-US" altLang="zh-CN" dirty="0"/>
              <a:t>pros</a:t>
            </a:r>
            <a:r>
              <a:rPr lang="zh-CN" altLang="en-US" dirty="0"/>
              <a:t> </a:t>
            </a:r>
            <a:r>
              <a:rPr lang="en-US" altLang="zh-CN" dirty="0"/>
              <a:t>and</a:t>
            </a:r>
            <a:r>
              <a:rPr lang="zh-CN" altLang="en-US" dirty="0"/>
              <a:t> </a:t>
            </a:r>
            <a:r>
              <a:rPr lang="en-US" altLang="zh-CN" dirty="0"/>
              <a:t>cons,</a:t>
            </a:r>
            <a:r>
              <a:rPr lang="zh-CN" altLang="en-US" dirty="0"/>
              <a:t> </a:t>
            </a:r>
            <a:r>
              <a:rPr lang="en-US" altLang="zh-CN" dirty="0"/>
              <a:t>does</a:t>
            </a:r>
            <a:r>
              <a:rPr lang="zh-CN" altLang="en-US" dirty="0"/>
              <a:t> </a:t>
            </a:r>
            <a:r>
              <a:rPr lang="en-US" altLang="zh-CN" dirty="0"/>
              <a:t>country</a:t>
            </a:r>
            <a:r>
              <a:rPr lang="zh-CN" altLang="en-US" dirty="0"/>
              <a:t> </a:t>
            </a:r>
            <a:r>
              <a:rPr lang="en-US" altLang="zh-CN" dirty="0"/>
              <a:t>adopt</a:t>
            </a:r>
            <a:r>
              <a:rPr lang="zh-CN" altLang="en-US" dirty="0"/>
              <a:t> </a:t>
            </a:r>
            <a:r>
              <a:rPr lang="en-US" altLang="zh-CN" dirty="0" err="1"/>
              <a:t>llm</a:t>
            </a:r>
            <a:r>
              <a:rPr lang="zh-CN" altLang="en-US" dirty="0"/>
              <a:t> </a:t>
            </a:r>
            <a:r>
              <a:rPr lang="en-US" altLang="zh-CN"/>
              <a:t>negotiation</a:t>
            </a:r>
            <a:r>
              <a:rPr lang="zh-CN" altLang="en-US" dirty="0"/>
              <a:t> </a:t>
            </a:r>
            <a:r>
              <a:rPr lang="en-US" altLang="zh-CN" dirty="0"/>
              <a:t>model</a:t>
            </a:r>
            <a:r>
              <a:rPr lang="zh-CN" altLang="en-US" dirty="0"/>
              <a:t> </a:t>
            </a:r>
            <a:r>
              <a:rPr lang="en-US" altLang="zh-CN" dirty="0"/>
              <a:t>in</a:t>
            </a:r>
            <a:r>
              <a:rPr lang="zh-CN" altLang="en-US" dirty="0"/>
              <a:t> </a:t>
            </a:r>
            <a:r>
              <a:rPr lang="en-US" altLang="zh-CN" dirty="0"/>
              <a:t>the</a:t>
            </a:r>
            <a:r>
              <a:rPr lang="zh-CN" altLang="en-US" dirty="0"/>
              <a:t> </a:t>
            </a:r>
            <a:r>
              <a:rPr lang="en-US" altLang="zh-CN" dirty="0"/>
              <a:t>future?</a:t>
            </a:r>
            <a:endParaRPr lang="en-US" dirty="0"/>
          </a:p>
        </p:txBody>
      </p:sp>
      <p:sp>
        <p:nvSpPr>
          <p:cNvPr id="4" name="Slide Number Placeholder 3"/>
          <p:cNvSpPr>
            <a:spLocks noGrp="1"/>
          </p:cNvSpPr>
          <p:nvPr>
            <p:ph type="sldNum" sz="quarter" idx="5"/>
          </p:nvPr>
        </p:nvSpPr>
        <p:spPr/>
        <p:txBody>
          <a:bodyPr/>
          <a:lstStyle/>
          <a:p>
            <a:fld id="{A536FCB8-6203-9843-9C4B-B8D58BCFE273}" type="slidenum">
              <a:rPr lang="en-US" smtClean="0"/>
              <a:t>7</a:t>
            </a:fld>
            <a:endParaRPr lang="en-US"/>
          </a:p>
        </p:txBody>
      </p:sp>
    </p:spTree>
    <p:extLst>
      <p:ext uri="{BB962C8B-B14F-4D97-AF65-F5344CB8AC3E}">
        <p14:creationId xmlns:p14="http://schemas.microsoft.com/office/powerpoint/2010/main" val="985039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There are four main next steps.</a:t>
            </a:r>
          </a:p>
          <a:p>
            <a:r>
              <a:rPr lang="en-US" sz="1200" b="0" i="0" kern="1200" dirty="0">
                <a:solidFill>
                  <a:schemeClr val="tx1"/>
                </a:solidFill>
                <a:effectLst/>
                <a:latin typeface="+mn-lt"/>
                <a:ea typeface="+mn-ea"/>
                <a:cs typeface="+mn-cs"/>
              </a:rPr>
              <a:t>First, expand beyond a single scenario and test the framework on a broader set of negotiation topics.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Second, run more controlled experiments, including counterfactuals and parameter sensitivity tests.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Third, compare different model families under the same negotiation protocol.</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And fourth, improve endgame behavior so that the system can better balance bloc-specific red lines without collapsing their identities into generic compromise language.</a:t>
            </a:r>
          </a:p>
          <a:p>
            <a:r>
              <a:rPr lang="en-US" sz="1200" b="0" i="0" kern="1200" dirty="0">
                <a:solidFill>
                  <a:schemeClr val="tx1"/>
                </a:solidFill>
                <a:effectLst/>
                <a:latin typeface="+mn-lt"/>
                <a:ea typeface="+mn-ea"/>
                <a:cs typeface="+mn-cs"/>
              </a:rPr>
              <a:t>The larger contribution of this project is that it offers a reusable workflow for studying whether LLM agents can behave like structured political actors in a multilateral process.</a:t>
            </a:r>
          </a:p>
          <a:p>
            <a:r>
              <a:rPr lang="en-US" sz="1200" b="0" i="0" kern="1200" dirty="0">
                <a:solidFill>
                  <a:schemeClr val="tx1"/>
                </a:solidFill>
                <a:effectLst/>
                <a:latin typeface="+mn-lt"/>
                <a:ea typeface="+mn-ea"/>
                <a:cs typeface="+mn-cs"/>
              </a:rPr>
              <a:t>So the project is already more than a proof of concept. It is becoming a research platform for computational studies of international climate governance.</a:t>
            </a:r>
          </a:p>
          <a:p>
            <a:br>
              <a:rPr lang="en-US" dirty="0"/>
            </a:br>
            <a:endParaRPr lang="en-US" dirty="0"/>
          </a:p>
        </p:txBody>
      </p:sp>
      <p:sp>
        <p:nvSpPr>
          <p:cNvPr id="4" name="Slide Number Placeholder 3"/>
          <p:cNvSpPr>
            <a:spLocks noGrp="1"/>
          </p:cNvSpPr>
          <p:nvPr>
            <p:ph type="sldNum" sz="quarter" idx="5"/>
          </p:nvPr>
        </p:nvSpPr>
        <p:spPr/>
        <p:txBody>
          <a:bodyPr/>
          <a:lstStyle/>
          <a:p>
            <a:fld id="{A536FCB8-6203-9843-9C4B-B8D58BCFE273}" type="slidenum">
              <a:rPr lang="en-US" smtClean="0"/>
              <a:t>8</a:t>
            </a:fld>
            <a:endParaRPr lang="en-US"/>
          </a:p>
        </p:txBody>
      </p:sp>
    </p:spTree>
    <p:extLst>
      <p:ext uri="{BB962C8B-B14F-4D97-AF65-F5344CB8AC3E}">
        <p14:creationId xmlns:p14="http://schemas.microsoft.com/office/powerpoint/2010/main" val="8517676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4/14/26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TextBox 1"/>
          <p:cNvSpPr txBox="1"/>
          <p:nvPr/>
        </p:nvSpPr>
        <p:spPr>
          <a:xfrm>
            <a:off x="731520" y="1097280"/>
            <a:ext cx="10607040" cy="822960"/>
          </a:xfrm>
          <a:prstGeom prst="rect">
            <a:avLst/>
          </a:prstGeom>
          <a:noFill/>
        </p:spPr>
        <p:txBody>
          <a:bodyPr wrap="square">
            <a:spAutoFit/>
          </a:bodyPr>
          <a:lstStyle/>
          <a:p>
            <a:pPr algn="l"/>
            <a:r>
              <a:rPr sz="3000" b="1">
                <a:solidFill>
                  <a:srgbClr val="193856"/>
                </a:solidFill>
                <a:latin typeface="Aptos"/>
              </a:rPr>
              <a:t>Climate Negotiation Simulation</a:t>
            </a:r>
          </a:p>
        </p:txBody>
      </p:sp>
      <p:sp>
        <p:nvSpPr>
          <p:cNvPr id="3" name="TextBox 2"/>
          <p:cNvSpPr txBox="1"/>
          <p:nvPr/>
        </p:nvSpPr>
        <p:spPr>
          <a:xfrm>
            <a:off x="731520" y="1828800"/>
            <a:ext cx="10424160" cy="738664"/>
          </a:xfrm>
          <a:prstGeom prst="rect">
            <a:avLst/>
          </a:prstGeom>
          <a:noFill/>
        </p:spPr>
        <p:txBody>
          <a:bodyPr wrap="square">
            <a:spAutoFit/>
          </a:bodyPr>
          <a:lstStyle/>
          <a:p>
            <a:pPr algn="l"/>
            <a:r>
              <a:rPr sz="2100" b="0" dirty="0">
                <a:solidFill>
                  <a:srgbClr val="626C79"/>
                </a:solidFill>
                <a:latin typeface="Aptos"/>
              </a:rPr>
              <a:t>A multi-agent LLM framework for simulating UNFCCC bargaining</a:t>
            </a:r>
            <a:endParaRPr lang="en-US" sz="2100" b="0" dirty="0">
              <a:solidFill>
                <a:srgbClr val="626C79"/>
              </a:solidFill>
              <a:latin typeface="Aptos"/>
            </a:endParaRPr>
          </a:p>
          <a:p>
            <a:r>
              <a:rPr lang="en-US" sz="2100" dirty="0">
                <a:solidFill>
                  <a:srgbClr val="626C79"/>
                </a:solidFill>
                <a:latin typeface="Aptos"/>
              </a:rPr>
              <a:t>https://</a:t>
            </a:r>
            <a:r>
              <a:rPr lang="en-US" sz="2100" dirty="0" err="1">
                <a:solidFill>
                  <a:srgbClr val="626C79"/>
                </a:solidFill>
                <a:latin typeface="Aptos"/>
              </a:rPr>
              <a:t>github.com</a:t>
            </a:r>
            <a:r>
              <a:rPr lang="en-US" sz="2100" dirty="0">
                <a:solidFill>
                  <a:srgbClr val="626C79"/>
                </a:solidFill>
                <a:latin typeface="Aptos"/>
              </a:rPr>
              <a:t>/alcohol-</a:t>
            </a:r>
            <a:r>
              <a:rPr lang="en-US" sz="2100" dirty="0" err="1">
                <a:solidFill>
                  <a:srgbClr val="626C79"/>
                </a:solidFill>
                <a:latin typeface="Aptos"/>
              </a:rPr>
              <a:t>freeWhisky</a:t>
            </a:r>
            <a:r>
              <a:rPr lang="en-US" sz="2100" dirty="0">
                <a:solidFill>
                  <a:srgbClr val="626C79"/>
                </a:solidFill>
                <a:latin typeface="Aptos"/>
              </a:rPr>
              <a:t>/</a:t>
            </a:r>
            <a:r>
              <a:rPr lang="en-US" sz="2100" dirty="0" err="1">
                <a:solidFill>
                  <a:srgbClr val="626C79"/>
                </a:solidFill>
                <a:latin typeface="Aptos"/>
              </a:rPr>
              <a:t>climate_negotiation_simulation</a:t>
            </a:r>
            <a:endParaRPr sz="2100" b="0" dirty="0">
              <a:solidFill>
                <a:srgbClr val="626C79"/>
              </a:solidFill>
              <a:latin typeface="Aptos"/>
            </a:endParaRPr>
          </a:p>
        </p:txBody>
      </p:sp>
      <p:sp>
        <p:nvSpPr>
          <p:cNvPr id="4" name="TextBox 3"/>
          <p:cNvSpPr txBox="1"/>
          <p:nvPr/>
        </p:nvSpPr>
        <p:spPr>
          <a:xfrm>
            <a:off x="731520" y="2971800"/>
            <a:ext cx="5029200" cy="1815882"/>
          </a:xfrm>
          <a:prstGeom prst="rect">
            <a:avLst/>
          </a:prstGeom>
          <a:solidFill>
            <a:srgbClr val="EBEFF3"/>
          </a:solidFill>
          <a:ln>
            <a:solidFill>
              <a:srgbClr val="EBEFF3"/>
            </a:solidFill>
          </a:ln>
        </p:spPr>
        <p:txBody>
          <a:bodyPr wrap="square">
            <a:spAutoFit/>
          </a:bodyPr>
          <a:lstStyle/>
          <a:p>
            <a:pPr algn="l"/>
            <a:r>
              <a:rPr lang="en-US" sz="2200" b="1" dirty="0">
                <a:solidFill>
                  <a:srgbClr val="202529"/>
                </a:solidFill>
                <a:latin typeface="Aptos"/>
              </a:rPr>
              <a:t>P</a:t>
            </a:r>
            <a:r>
              <a:rPr sz="2200" b="1" dirty="0">
                <a:solidFill>
                  <a:srgbClr val="202529"/>
                </a:solidFill>
                <a:latin typeface="Aptos"/>
              </a:rPr>
              <a:t>roject overview</a:t>
            </a:r>
            <a:br>
              <a:rPr dirty="0"/>
            </a:br>
            <a:r>
              <a:rPr dirty="0"/>
              <a:t>Background</a:t>
            </a:r>
            <a:br>
              <a:rPr dirty="0"/>
            </a:br>
            <a:r>
              <a:rPr dirty="0"/>
              <a:t>Goal</a:t>
            </a:r>
            <a:br>
              <a:rPr dirty="0"/>
            </a:br>
            <a:r>
              <a:rPr dirty="0"/>
              <a:t>Workflow</a:t>
            </a:r>
            <a:br>
              <a:rPr dirty="0"/>
            </a:br>
            <a:r>
              <a:rPr dirty="0"/>
              <a:t>Experiment</a:t>
            </a:r>
            <a:br>
              <a:rPr dirty="0"/>
            </a:br>
            <a:r>
              <a:rPr dirty="0"/>
              <a:t>Next steps</a:t>
            </a:r>
          </a:p>
        </p:txBody>
      </p:sp>
      <p:sp>
        <p:nvSpPr>
          <p:cNvPr id="5" name="TextBox 4"/>
          <p:cNvSpPr txBox="1"/>
          <p:nvPr/>
        </p:nvSpPr>
        <p:spPr>
          <a:xfrm>
            <a:off x="6400800" y="2971800"/>
            <a:ext cx="4572000" cy="1261884"/>
          </a:xfrm>
          <a:prstGeom prst="rect">
            <a:avLst/>
          </a:prstGeom>
          <a:solidFill>
            <a:srgbClr val="E9F0EB"/>
          </a:solidFill>
          <a:ln>
            <a:solidFill>
              <a:srgbClr val="E9F0EB"/>
            </a:solidFill>
          </a:ln>
        </p:spPr>
        <p:txBody>
          <a:bodyPr wrap="square">
            <a:spAutoFit/>
          </a:bodyPr>
          <a:lstStyle/>
          <a:p>
            <a:pPr algn="l"/>
            <a:r>
              <a:rPr sz="2200" b="1" dirty="0">
                <a:solidFill>
                  <a:srgbClr val="202529"/>
                </a:solidFill>
                <a:latin typeface="Aptos"/>
              </a:rPr>
              <a:t>Current setup</a:t>
            </a:r>
            <a:br>
              <a:rPr dirty="0"/>
            </a:br>
            <a:r>
              <a:rPr dirty="0"/>
              <a:t>8 bloc agents + Chair</a:t>
            </a:r>
            <a:br>
              <a:rPr dirty="0"/>
            </a:br>
            <a:r>
              <a:rPr dirty="0"/>
              <a:t>DeepSeek default backend</a:t>
            </a:r>
            <a:br>
              <a:rPr dirty="0"/>
            </a:br>
            <a:r>
              <a:rPr dirty="0"/>
              <a:t>Real draft/final text benchmark</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685800"/>
          </a:xfrm>
          <a:prstGeom prst="rect">
            <a:avLst/>
          </a:prstGeom>
          <a:noFill/>
        </p:spPr>
        <p:txBody>
          <a:bodyPr wrap="square">
            <a:spAutoFit/>
          </a:bodyPr>
          <a:lstStyle/>
          <a:p>
            <a:pPr algn="l"/>
            <a:r>
              <a:rPr sz="2800" b="1">
                <a:solidFill>
                  <a:srgbClr val="193856"/>
                </a:solidFill>
                <a:latin typeface="Aptos"/>
              </a:rPr>
              <a:t>Background</a:t>
            </a:r>
          </a:p>
        </p:txBody>
      </p:sp>
      <p:sp>
        <p:nvSpPr>
          <p:cNvPr id="3" name="Rectangle 2"/>
          <p:cNvSpPr/>
          <p:nvPr/>
        </p:nvSpPr>
        <p:spPr>
          <a:xfrm>
            <a:off x="594360" y="987552"/>
            <a:ext cx="1920240" cy="45720"/>
          </a:xfrm>
          <a:prstGeom prst="rect">
            <a:avLst/>
          </a:prstGeom>
          <a:solidFill>
            <a:srgbClr val="286E76"/>
          </a:solidFill>
          <a:ln>
            <a:solidFill>
              <a:srgbClr val="286E7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508760"/>
            <a:ext cx="5669280" cy="4297680"/>
          </a:xfrm>
          <a:prstGeom prst="rect">
            <a:avLst/>
          </a:prstGeom>
          <a:noFill/>
        </p:spPr>
        <p:txBody>
          <a:bodyPr wrap="square">
            <a:spAutoFit/>
          </a:bodyPr>
          <a:lstStyle/>
          <a:p>
            <a:r>
              <a:rPr sz="2200" dirty="0">
                <a:solidFill>
                  <a:srgbClr val="202529"/>
                </a:solidFill>
                <a:latin typeface="Aptos"/>
              </a:rPr>
              <a:t>UNFCCC decisions are negotiated through text, not only through preferences.</a:t>
            </a:r>
          </a:p>
          <a:p>
            <a:r>
              <a:rPr sz="2200" dirty="0">
                <a:solidFill>
                  <a:srgbClr val="202529"/>
                </a:solidFill>
                <a:latin typeface="Aptos"/>
              </a:rPr>
              <a:t>The process is consensus-based, multi-party, and highly path-dependent.</a:t>
            </a:r>
          </a:p>
          <a:p>
            <a:r>
              <a:rPr sz="2200" dirty="0">
                <a:solidFill>
                  <a:srgbClr val="202529"/>
                </a:solidFill>
                <a:latin typeface="Aptos"/>
              </a:rPr>
              <a:t>Article 6 negotiations are especially difficult because legal drafting and political trade-offs interact.</a:t>
            </a:r>
          </a:p>
          <a:p>
            <a:r>
              <a:rPr sz="2200" dirty="0">
                <a:solidFill>
                  <a:srgbClr val="202529"/>
                </a:solidFill>
                <a:latin typeface="Aptos"/>
              </a:rPr>
              <a:t>This makes climate bargaining a useful testbed for multi-agent LLM systems.</a:t>
            </a:r>
          </a:p>
        </p:txBody>
      </p:sp>
      <p:sp>
        <p:nvSpPr>
          <p:cNvPr id="5" name="Rounded Rectangle 4"/>
          <p:cNvSpPr/>
          <p:nvPr/>
        </p:nvSpPr>
        <p:spPr>
          <a:xfrm>
            <a:off x="6537960" y="1645920"/>
            <a:ext cx="4663440" cy="3566160"/>
          </a:xfrm>
          <a:prstGeom prst="roundRect">
            <a:avLst/>
          </a:prstGeom>
          <a:solidFill>
            <a:srgbClr val="EEF1F4"/>
          </a:solidFill>
          <a:ln>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12280" y="1874519"/>
            <a:ext cx="4114800" cy="2926080"/>
          </a:xfrm>
          <a:prstGeom prst="rect">
            <a:avLst/>
          </a:prstGeom>
          <a:noFill/>
        </p:spPr>
        <p:txBody>
          <a:bodyPr wrap="square">
            <a:spAutoFit/>
          </a:bodyPr>
          <a:lstStyle/>
          <a:p>
            <a:pPr algn="l"/>
            <a:r>
              <a:rPr sz="2200" b="0">
                <a:solidFill>
                  <a:srgbClr val="202529"/>
                </a:solidFill>
                <a:latin typeface="Aptos"/>
              </a:rPr>
              <a:t>Why simulation is hard</a:t>
            </a:r>
            <a:br/>
            <a:br/>
            <a:r>
              <a:t>Distinct bloc identities</a:t>
            </a:r>
            <a:br/>
            <a:r>
              <a:t>Iterative compromise text</a:t>
            </a:r>
            <a:br/>
            <a:r>
              <a:t>Chair-mediated convergence</a:t>
            </a:r>
            <a:br/>
            <a:r>
              <a:t>Adoption depends on political acceptability, not only textual quality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685800"/>
          </a:xfrm>
          <a:prstGeom prst="rect">
            <a:avLst/>
          </a:prstGeom>
          <a:noFill/>
        </p:spPr>
        <p:txBody>
          <a:bodyPr wrap="square">
            <a:spAutoFit/>
          </a:bodyPr>
          <a:lstStyle/>
          <a:p>
            <a:pPr algn="l"/>
            <a:r>
              <a:rPr sz="2800" b="1">
                <a:solidFill>
                  <a:srgbClr val="193856"/>
                </a:solidFill>
                <a:latin typeface="Aptos"/>
              </a:rPr>
              <a:t>Goal</a:t>
            </a:r>
          </a:p>
        </p:txBody>
      </p:sp>
      <p:sp>
        <p:nvSpPr>
          <p:cNvPr id="3" name="Rectangle 2"/>
          <p:cNvSpPr/>
          <p:nvPr/>
        </p:nvSpPr>
        <p:spPr>
          <a:xfrm>
            <a:off x="594360" y="987552"/>
            <a:ext cx="1920240" cy="45720"/>
          </a:xfrm>
          <a:prstGeom prst="rect">
            <a:avLst/>
          </a:prstGeom>
          <a:solidFill>
            <a:srgbClr val="286E76"/>
          </a:solidFill>
          <a:ln>
            <a:solidFill>
              <a:srgbClr val="286E7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691640"/>
            <a:ext cx="10241280" cy="2569934"/>
          </a:xfrm>
          <a:prstGeom prst="rect">
            <a:avLst/>
          </a:prstGeom>
          <a:noFill/>
        </p:spPr>
        <p:txBody>
          <a:bodyPr wrap="square">
            <a:spAutoFit/>
          </a:bodyPr>
          <a:lstStyle/>
          <a:p>
            <a:r>
              <a:rPr lang="en-US" sz="2300" dirty="0">
                <a:solidFill>
                  <a:srgbClr val="202529"/>
                </a:solidFill>
                <a:latin typeface="Aptos"/>
              </a:rPr>
              <a:t>- </a:t>
            </a:r>
            <a:r>
              <a:rPr sz="2300" dirty="0">
                <a:solidFill>
                  <a:srgbClr val="202529"/>
                </a:solidFill>
                <a:latin typeface="Aptos"/>
              </a:rPr>
              <a:t>Build an end-to-end system that can simulate bloc-level climate negotiations over real draft text.</a:t>
            </a:r>
          </a:p>
          <a:p>
            <a:r>
              <a:rPr lang="en-US" sz="2300" dirty="0">
                <a:solidFill>
                  <a:srgbClr val="202529"/>
                </a:solidFill>
                <a:latin typeface="Aptos"/>
              </a:rPr>
              <a:t>- </a:t>
            </a:r>
            <a:r>
              <a:rPr sz="2300" dirty="0">
                <a:solidFill>
                  <a:srgbClr val="202529"/>
                </a:solidFill>
                <a:latin typeface="Aptos"/>
              </a:rPr>
              <a:t>Preserve persistent agent identities, red lines, and coalition behavior across multiple rounds.</a:t>
            </a:r>
          </a:p>
          <a:p>
            <a:r>
              <a:rPr lang="en-US" sz="2300" dirty="0">
                <a:solidFill>
                  <a:srgbClr val="202529"/>
                </a:solidFill>
                <a:latin typeface="Aptos"/>
              </a:rPr>
              <a:t>- </a:t>
            </a:r>
            <a:r>
              <a:rPr sz="2300" dirty="0">
                <a:solidFill>
                  <a:srgbClr val="202529"/>
                </a:solidFill>
                <a:latin typeface="Aptos"/>
              </a:rPr>
              <a:t>Produce revisable decision text and compare it against a real negotiated outcome.</a:t>
            </a:r>
          </a:p>
          <a:p>
            <a:r>
              <a:rPr lang="en-US" sz="2300" dirty="0">
                <a:solidFill>
                  <a:srgbClr val="202529"/>
                </a:solidFill>
                <a:latin typeface="Aptos"/>
              </a:rPr>
              <a:t>- </a:t>
            </a:r>
            <a:r>
              <a:rPr sz="2300" dirty="0">
                <a:solidFill>
                  <a:srgbClr val="202529"/>
                </a:solidFill>
                <a:latin typeface="Aptos"/>
              </a:rPr>
              <a:t>Separate textual realism from political feasibility in the evaluation.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685800"/>
          </a:xfrm>
          <a:prstGeom prst="rect">
            <a:avLst/>
          </a:prstGeom>
          <a:noFill/>
        </p:spPr>
        <p:txBody>
          <a:bodyPr wrap="square">
            <a:spAutoFit/>
          </a:bodyPr>
          <a:lstStyle/>
          <a:p>
            <a:pPr algn="l"/>
            <a:r>
              <a:rPr sz="2800" b="1">
                <a:solidFill>
                  <a:srgbClr val="193856"/>
                </a:solidFill>
                <a:latin typeface="Aptos"/>
              </a:rPr>
              <a:t>Workflow</a:t>
            </a:r>
          </a:p>
        </p:txBody>
      </p:sp>
      <p:sp>
        <p:nvSpPr>
          <p:cNvPr id="3" name="Rectangle 2"/>
          <p:cNvSpPr/>
          <p:nvPr/>
        </p:nvSpPr>
        <p:spPr>
          <a:xfrm>
            <a:off x="594360" y="987552"/>
            <a:ext cx="1920240" cy="45720"/>
          </a:xfrm>
          <a:prstGeom prst="rect">
            <a:avLst/>
          </a:prstGeom>
          <a:solidFill>
            <a:srgbClr val="286E76"/>
          </a:solidFill>
          <a:ln>
            <a:solidFill>
              <a:srgbClr val="286E7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965960"/>
            <a:ext cx="2240280" cy="1600200"/>
          </a:xfrm>
          <a:prstGeom prst="roundRect">
            <a:avLst/>
          </a:prstGeom>
          <a:solidFill>
            <a:srgbClr val="193856"/>
          </a:solidFill>
          <a:ln>
            <a:solidFill>
              <a:srgbClr val="19385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Opening Statements</a:t>
            </a:r>
            <a:br/>
            <a:r>
              <a:t>initial priorities</a:t>
            </a:r>
          </a:p>
        </p:txBody>
      </p:sp>
      <p:sp>
        <p:nvSpPr>
          <p:cNvPr id="5" name="Rounded Rectangle 4"/>
          <p:cNvSpPr/>
          <p:nvPr/>
        </p:nvSpPr>
        <p:spPr>
          <a:xfrm>
            <a:off x="3520439" y="1965960"/>
            <a:ext cx="2240280" cy="1600200"/>
          </a:xfrm>
          <a:prstGeom prst="roundRect">
            <a:avLst/>
          </a:prstGeom>
          <a:solidFill>
            <a:srgbClr val="286E76"/>
          </a:solidFill>
          <a:ln>
            <a:solidFill>
              <a:srgbClr val="286E76"/>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First Reading</a:t>
            </a:r>
            <a:br/>
            <a:r>
              <a:t>paragraph amendments</a:t>
            </a:r>
          </a:p>
        </p:txBody>
      </p:sp>
      <p:sp>
        <p:nvSpPr>
          <p:cNvPr id="6" name="Rounded Rectangle 5"/>
          <p:cNvSpPr/>
          <p:nvPr/>
        </p:nvSpPr>
        <p:spPr>
          <a:xfrm>
            <a:off x="6309359" y="1965960"/>
            <a:ext cx="2240280" cy="1600200"/>
          </a:xfrm>
          <a:prstGeom prst="roundRect">
            <a:avLst/>
          </a:prstGeom>
          <a:solidFill>
            <a:srgbClr val="477A53"/>
          </a:solidFill>
          <a:ln>
            <a:solidFill>
              <a:srgbClr val="477A5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Informal Consultations</a:t>
            </a:r>
            <a:br/>
            <a:r>
              <a:t>multi-round bargaining</a:t>
            </a:r>
          </a:p>
        </p:txBody>
      </p:sp>
      <p:sp>
        <p:nvSpPr>
          <p:cNvPr id="7" name="Rounded Rectangle 6"/>
          <p:cNvSpPr/>
          <p:nvPr/>
        </p:nvSpPr>
        <p:spPr>
          <a:xfrm>
            <a:off x="9098280" y="1965960"/>
            <a:ext cx="2240280" cy="1600200"/>
          </a:xfrm>
          <a:prstGeom prst="roundRect">
            <a:avLst/>
          </a:prstGeom>
          <a:solidFill>
            <a:srgbClr val="B56243"/>
          </a:solidFill>
          <a:ln>
            <a:solidFill>
              <a:srgbClr val="B56243"/>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rPr>
              <a:t>Final Plenary</a:t>
            </a:r>
            <a:br/>
            <a:r>
              <a:t>clean text and adoption</a:t>
            </a:r>
          </a:p>
        </p:txBody>
      </p:sp>
      <p:sp>
        <p:nvSpPr>
          <p:cNvPr id="8" name="TextBox 7"/>
          <p:cNvSpPr txBox="1"/>
          <p:nvPr/>
        </p:nvSpPr>
        <p:spPr>
          <a:xfrm>
            <a:off x="868680" y="4206240"/>
            <a:ext cx="10241280" cy="1188720"/>
          </a:xfrm>
          <a:prstGeom prst="rect">
            <a:avLst/>
          </a:prstGeom>
          <a:noFill/>
        </p:spPr>
        <p:txBody>
          <a:bodyPr wrap="square">
            <a:spAutoFit/>
          </a:bodyPr>
          <a:lstStyle/>
          <a:p>
            <a:r>
              <a:rPr sz="2000">
                <a:solidFill>
                  <a:srgbClr val="202529"/>
                </a:solidFill>
                <a:latin typeface="Aptos"/>
              </a:rPr>
              <a:t>Chair synthesizes proposals into revised text after each consultation round.</a:t>
            </a:r>
          </a:p>
          <a:p>
            <a:r>
              <a:rPr sz="2000">
                <a:solidFill>
                  <a:srgbClr val="202529"/>
                </a:solidFill>
                <a:latin typeface="Aptos"/>
              </a:rPr>
              <a:t>Text Manager tracks brackets, amendments, and text evolution.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685800"/>
          </a:xfrm>
          <a:prstGeom prst="rect">
            <a:avLst/>
          </a:prstGeom>
          <a:noFill/>
        </p:spPr>
        <p:txBody>
          <a:bodyPr wrap="square">
            <a:spAutoFit/>
          </a:bodyPr>
          <a:lstStyle/>
          <a:p>
            <a:pPr algn="l"/>
            <a:r>
              <a:rPr sz="2800" b="1">
                <a:solidFill>
                  <a:srgbClr val="193856"/>
                </a:solidFill>
                <a:latin typeface="Aptos"/>
              </a:rPr>
              <a:t>Workflow Implementation</a:t>
            </a:r>
          </a:p>
        </p:txBody>
      </p:sp>
      <p:sp>
        <p:nvSpPr>
          <p:cNvPr id="3" name="Rectangle 2"/>
          <p:cNvSpPr/>
          <p:nvPr/>
        </p:nvSpPr>
        <p:spPr>
          <a:xfrm>
            <a:off x="594360" y="987552"/>
            <a:ext cx="1920240" cy="45720"/>
          </a:xfrm>
          <a:prstGeom prst="rect">
            <a:avLst/>
          </a:prstGeom>
          <a:solidFill>
            <a:srgbClr val="286E76"/>
          </a:solidFill>
          <a:ln>
            <a:solidFill>
              <a:srgbClr val="286E7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31520" y="1554480"/>
            <a:ext cx="2930542" cy="3566160"/>
          </a:xfrm>
          <a:prstGeom prst="roundRect">
            <a:avLst/>
          </a:prstGeom>
          <a:solidFill>
            <a:srgbClr val="EEF1F4"/>
          </a:solidFill>
          <a:ln>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125951" y="1554480"/>
            <a:ext cx="3010828" cy="3566160"/>
          </a:xfrm>
          <a:prstGeom prst="roundRect">
            <a:avLst/>
          </a:prstGeom>
          <a:solidFill>
            <a:srgbClr val="EEF1F4"/>
          </a:solidFill>
          <a:ln>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527072" y="1554480"/>
            <a:ext cx="3628607" cy="3566160"/>
          </a:xfrm>
          <a:prstGeom prst="roundRect">
            <a:avLst/>
          </a:prstGeom>
          <a:solidFill>
            <a:srgbClr val="EEF1F4"/>
          </a:solidFill>
          <a:ln>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19" y="1828800"/>
            <a:ext cx="2701943" cy="1815882"/>
          </a:xfrm>
          <a:prstGeom prst="rect">
            <a:avLst/>
          </a:prstGeom>
          <a:noFill/>
        </p:spPr>
        <p:txBody>
          <a:bodyPr wrap="square">
            <a:spAutoFit/>
          </a:bodyPr>
          <a:lstStyle/>
          <a:p>
            <a:pPr algn="l"/>
            <a:r>
              <a:rPr sz="2200" b="1" dirty="0">
                <a:solidFill>
                  <a:srgbClr val="202529"/>
                </a:solidFill>
                <a:latin typeface="Aptos"/>
              </a:rPr>
              <a:t>Negotiation Engine</a:t>
            </a:r>
            <a:br>
              <a:rPr dirty="0"/>
            </a:br>
            <a:br>
              <a:rPr dirty="0"/>
            </a:br>
            <a:r>
              <a:rPr dirty="0"/>
              <a:t>Phase Manager</a:t>
            </a:r>
            <a:br>
              <a:rPr dirty="0"/>
            </a:br>
            <a:r>
              <a:rPr dirty="0"/>
              <a:t>Turn Manager</a:t>
            </a:r>
            <a:br>
              <a:rPr dirty="0"/>
            </a:br>
            <a:r>
              <a:rPr dirty="0"/>
              <a:t>Text Manager</a:t>
            </a:r>
            <a:br>
              <a:rPr dirty="0"/>
            </a:br>
            <a:r>
              <a:rPr dirty="0"/>
              <a:t>Amendment Processor</a:t>
            </a:r>
          </a:p>
        </p:txBody>
      </p:sp>
      <p:sp>
        <p:nvSpPr>
          <p:cNvPr id="8" name="TextBox 7"/>
          <p:cNvSpPr txBox="1"/>
          <p:nvPr/>
        </p:nvSpPr>
        <p:spPr>
          <a:xfrm>
            <a:off x="4393580" y="1828800"/>
            <a:ext cx="2285999" cy="1815882"/>
          </a:xfrm>
          <a:prstGeom prst="rect">
            <a:avLst/>
          </a:prstGeom>
          <a:noFill/>
        </p:spPr>
        <p:txBody>
          <a:bodyPr wrap="square">
            <a:spAutoFit/>
          </a:bodyPr>
          <a:lstStyle/>
          <a:p>
            <a:pPr algn="l"/>
            <a:r>
              <a:rPr sz="2200" b="1" dirty="0">
                <a:solidFill>
                  <a:srgbClr val="202529"/>
                </a:solidFill>
                <a:latin typeface="Aptos"/>
              </a:rPr>
              <a:t>Agent Layer</a:t>
            </a:r>
            <a:br>
              <a:rPr dirty="0"/>
            </a:br>
            <a:br>
              <a:rPr dirty="0"/>
            </a:br>
            <a:r>
              <a:rPr dirty="0"/>
              <a:t>8 negotiating blocs</a:t>
            </a:r>
            <a:br>
              <a:rPr dirty="0"/>
            </a:br>
            <a:r>
              <a:rPr dirty="0"/>
              <a:t>1 Chair agent</a:t>
            </a:r>
            <a:br>
              <a:rPr dirty="0"/>
            </a:br>
            <a:r>
              <a:rPr dirty="0"/>
              <a:t>General charters</a:t>
            </a:r>
            <a:br>
              <a:rPr dirty="0"/>
            </a:br>
            <a:r>
              <a:rPr dirty="0"/>
              <a:t>Runtime agenda focus</a:t>
            </a:r>
          </a:p>
        </p:txBody>
      </p:sp>
      <p:sp>
        <p:nvSpPr>
          <p:cNvPr id="9" name="TextBox 8"/>
          <p:cNvSpPr txBox="1"/>
          <p:nvPr/>
        </p:nvSpPr>
        <p:spPr>
          <a:xfrm>
            <a:off x="8118088" y="1828800"/>
            <a:ext cx="2763271" cy="2092881"/>
          </a:xfrm>
          <a:prstGeom prst="rect">
            <a:avLst/>
          </a:prstGeom>
          <a:noFill/>
        </p:spPr>
        <p:txBody>
          <a:bodyPr wrap="square">
            <a:spAutoFit/>
          </a:bodyPr>
          <a:lstStyle/>
          <a:p>
            <a:pPr algn="l"/>
            <a:r>
              <a:rPr sz="2200" b="1" dirty="0">
                <a:solidFill>
                  <a:srgbClr val="202529"/>
                </a:solidFill>
                <a:latin typeface="Aptos"/>
              </a:rPr>
              <a:t>Evaluation Layer</a:t>
            </a:r>
            <a:br>
              <a:rPr dirty="0"/>
            </a:br>
            <a:br>
              <a:rPr dirty="0"/>
            </a:br>
            <a:r>
              <a:rPr dirty="0"/>
              <a:t>ROUGE-L</a:t>
            </a:r>
            <a:br>
              <a:rPr dirty="0"/>
            </a:br>
            <a:r>
              <a:rPr dirty="0" err="1"/>
              <a:t>BERTScore</a:t>
            </a:r>
            <a:br>
              <a:rPr dirty="0"/>
            </a:br>
            <a:r>
              <a:rPr dirty="0"/>
              <a:t>Key clause matching</a:t>
            </a:r>
            <a:br>
              <a:rPr dirty="0"/>
            </a:br>
            <a:r>
              <a:rPr dirty="0"/>
              <a:t>Stance consistency</a:t>
            </a:r>
            <a:br>
              <a:rPr dirty="0"/>
            </a:br>
            <a:r>
              <a:rPr dirty="0"/>
              <a:t>Political acceptability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685800"/>
          </a:xfrm>
          <a:prstGeom prst="rect">
            <a:avLst/>
          </a:prstGeom>
          <a:noFill/>
        </p:spPr>
        <p:txBody>
          <a:bodyPr wrap="square">
            <a:spAutoFit/>
          </a:bodyPr>
          <a:lstStyle/>
          <a:p>
            <a:pPr algn="l"/>
            <a:r>
              <a:rPr sz="2800" b="1">
                <a:solidFill>
                  <a:srgbClr val="193856"/>
                </a:solidFill>
                <a:latin typeface="Aptos"/>
              </a:rPr>
              <a:t>Experiment</a:t>
            </a:r>
          </a:p>
        </p:txBody>
      </p:sp>
      <p:sp>
        <p:nvSpPr>
          <p:cNvPr id="3" name="Rectangle 2"/>
          <p:cNvSpPr/>
          <p:nvPr/>
        </p:nvSpPr>
        <p:spPr>
          <a:xfrm>
            <a:off x="594360" y="987552"/>
            <a:ext cx="1920240" cy="45720"/>
          </a:xfrm>
          <a:prstGeom prst="rect">
            <a:avLst/>
          </a:prstGeom>
          <a:solidFill>
            <a:srgbClr val="286E76"/>
          </a:solidFill>
          <a:ln>
            <a:solidFill>
              <a:srgbClr val="286E7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554480"/>
            <a:ext cx="6400800" cy="2354491"/>
          </a:xfrm>
          <a:prstGeom prst="rect">
            <a:avLst/>
          </a:prstGeom>
          <a:noFill/>
        </p:spPr>
        <p:txBody>
          <a:bodyPr wrap="square">
            <a:spAutoFit/>
          </a:bodyPr>
          <a:lstStyle/>
          <a:p>
            <a:r>
              <a:rPr lang="en-US" sz="2100" dirty="0">
                <a:solidFill>
                  <a:srgbClr val="202529"/>
                </a:solidFill>
                <a:latin typeface="Aptos"/>
              </a:rPr>
              <a:t>- </a:t>
            </a:r>
            <a:r>
              <a:rPr sz="2100" dirty="0">
                <a:solidFill>
                  <a:srgbClr val="202529"/>
                </a:solidFill>
                <a:latin typeface="Aptos"/>
              </a:rPr>
              <a:t>Case study: Article 6.8 - Framework for Non-Market </a:t>
            </a:r>
            <a:r>
              <a:rPr lang="en-US" altLang="zh-CN" sz="2100" dirty="0">
                <a:solidFill>
                  <a:srgbClr val="202529"/>
                </a:solidFill>
                <a:latin typeface="Aptos"/>
              </a:rPr>
              <a:t>--</a:t>
            </a:r>
            <a:r>
              <a:rPr lang="zh-CN" altLang="en-US" sz="2100" dirty="0">
                <a:solidFill>
                  <a:srgbClr val="202529"/>
                </a:solidFill>
                <a:latin typeface="Aptos"/>
              </a:rPr>
              <a:t> </a:t>
            </a:r>
            <a:r>
              <a:rPr sz="2100" dirty="0">
                <a:solidFill>
                  <a:srgbClr val="202529"/>
                </a:solidFill>
                <a:latin typeface="Aptos"/>
              </a:rPr>
              <a:t>Participants: 8 negotiating blocs plus a neutral Chair</a:t>
            </a:r>
            <a:endParaRPr lang="en-US" sz="2100" dirty="0">
              <a:solidFill>
                <a:srgbClr val="202529"/>
              </a:solidFill>
              <a:latin typeface="Aptos"/>
            </a:endParaRPr>
          </a:p>
          <a:p>
            <a:r>
              <a:rPr lang="en-US" sz="2100" dirty="0">
                <a:solidFill>
                  <a:srgbClr val="202529"/>
                </a:solidFill>
                <a:latin typeface="Aptos"/>
              </a:rPr>
              <a:t>- </a:t>
            </a:r>
            <a:r>
              <a:rPr sz="2100" dirty="0">
                <a:solidFill>
                  <a:srgbClr val="202529"/>
                </a:solidFill>
                <a:latin typeface="Aptos"/>
              </a:rPr>
              <a:t>Default backend: DeepSeek chat</a:t>
            </a:r>
          </a:p>
          <a:p>
            <a:r>
              <a:rPr lang="en-US" sz="2100" dirty="0">
                <a:solidFill>
                  <a:srgbClr val="202529"/>
                </a:solidFill>
                <a:latin typeface="Aptos"/>
              </a:rPr>
              <a:t>- </a:t>
            </a:r>
            <a:r>
              <a:rPr sz="2100" dirty="0">
                <a:solidFill>
                  <a:srgbClr val="202529"/>
                </a:solidFill>
                <a:latin typeface="Aptos"/>
              </a:rPr>
              <a:t>Scenario disputes: scope, governance, relation to markets, institutional home, reporting</a:t>
            </a:r>
          </a:p>
          <a:p>
            <a:r>
              <a:rPr lang="en-US" sz="2100" dirty="0">
                <a:solidFill>
                  <a:srgbClr val="202529"/>
                </a:solidFill>
                <a:latin typeface="Aptos"/>
              </a:rPr>
              <a:t>- </a:t>
            </a:r>
            <a:r>
              <a:rPr sz="2100" dirty="0">
                <a:solidFill>
                  <a:srgbClr val="202529"/>
                </a:solidFill>
                <a:latin typeface="Aptos"/>
              </a:rPr>
              <a:t>Validation: </a:t>
            </a:r>
            <a:r>
              <a:rPr sz="2100" dirty="0" err="1">
                <a:solidFill>
                  <a:srgbClr val="202529"/>
                </a:solidFill>
                <a:latin typeface="Aptos"/>
              </a:rPr>
              <a:t>pytest</a:t>
            </a:r>
            <a:r>
              <a:rPr sz="2100" dirty="0">
                <a:solidFill>
                  <a:srgbClr val="202529"/>
                </a:solidFill>
                <a:latin typeface="Aptos"/>
              </a:rPr>
              <a:t>, </a:t>
            </a:r>
            <a:r>
              <a:rPr sz="2100" dirty="0" err="1">
                <a:solidFill>
                  <a:srgbClr val="202529"/>
                </a:solidFill>
                <a:latin typeface="Aptos"/>
              </a:rPr>
              <a:t>unittest</a:t>
            </a:r>
            <a:r>
              <a:rPr sz="2100" dirty="0">
                <a:solidFill>
                  <a:srgbClr val="202529"/>
                </a:solidFill>
                <a:latin typeface="Aptos"/>
              </a:rPr>
              <a:t>, </a:t>
            </a:r>
            <a:r>
              <a:rPr sz="2100" dirty="0" err="1">
                <a:solidFill>
                  <a:srgbClr val="202529"/>
                </a:solidFill>
                <a:latin typeface="Aptos"/>
              </a:rPr>
              <a:t>compileall</a:t>
            </a:r>
            <a:r>
              <a:rPr sz="2100" dirty="0">
                <a:solidFill>
                  <a:srgbClr val="202529"/>
                </a:solidFill>
                <a:latin typeface="Aptos"/>
              </a:rPr>
              <a:t>, and dry-run all pass</a:t>
            </a:r>
          </a:p>
        </p:txBody>
      </p:sp>
      <p:sp>
        <p:nvSpPr>
          <p:cNvPr id="5" name="Rounded Rectangle 4"/>
          <p:cNvSpPr/>
          <p:nvPr/>
        </p:nvSpPr>
        <p:spPr>
          <a:xfrm>
            <a:off x="7543800" y="1691640"/>
            <a:ext cx="3474720" cy="3108960"/>
          </a:xfrm>
          <a:prstGeom prst="roundRect">
            <a:avLst/>
          </a:prstGeom>
          <a:solidFill>
            <a:srgbClr val="EEF1F4"/>
          </a:solidFill>
          <a:ln>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818120" y="1920240"/>
            <a:ext cx="2926080" cy="2651760"/>
          </a:xfrm>
          <a:prstGeom prst="rect">
            <a:avLst/>
          </a:prstGeom>
          <a:noFill/>
        </p:spPr>
        <p:txBody>
          <a:bodyPr wrap="square">
            <a:spAutoFit/>
          </a:bodyPr>
          <a:lstStyle/>
          <a:p>
            <a:pPr algn="l"/>
            <a:r>
              <a:rPr sz="2200" b="0">
                <a:solidFill>
                  <a:srgbClr val="202529"/>
                </a:solidFill>
                <a:latin typeface="Aptos"/>
              </a:rPr>
              <a:t>Repository snapshot</a:t>
            </a:r>
            <a:br/>
            <a:br/>
            <a:r>
              <a:t>20 source files</a:t>
            </a:r>
            <a:br/>
            <a:r>
              <a:t>8 bloc profiles</a:t>
            </a:r>
            <a:br/>
            <a:r>
              <a:t>6 test modules</a:t>
            </a:r>
            <a:br/>
            <a:r>
              <a:t>Per-run output folders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685800"/>
          </a:xfrm>
          <a:prstGeom prst="rect">
            <a:avLst/>
          </a:prstGeom>
          <a:noFill/>
        </p:spPr>
        <p:txBody>
          <a:bodyPr wrap="square">
            <a:spAutoFit/>
          </a:bodyPr>
          <a:lstStyle/>
          <a:p>
            <a:pPr algn="l"/>
            <a:r>
              <a:rPr sz="2800" b="1">
                <a:solidFill>
                  <a:srgbClr val="193856"/>
                </a:solidFill>
                <a:latin typeface="Aptos"/>
              </a:rPr>
              <a:t>Experiment Results</a:t>
            </a:r>
          </a:p>
        </p:txBody>
      </p:sp>
      <p:sp>
        <p:nvSpPr>
          <p:cNvPr id="3" name="Rectangle 2"/>
          <p:cNvSpPr/>
          <p:nvPr/>
        </p:nvSpPr>
        <p:spPr>
          <a:xfrm>
            <a:off x="594360" y="987552"/>
            <a:ext cx="1920240" cy="45720"/>
          </a:xfrm>
          <a:prstGeom prst="rect">
            <a:avLst/>
          </a:prstGeom>
          <a:solidFill>
            <a:srgbClr val="286E76"/>
          </a:solidFill>
          <a:ln>
            <a:solidFill>
              <a:srgbClr val="286E7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academic_run_trends.png"/>
          <p:cNvPicPr>
            <a:picLocks noChangeAspect="1"/>
          </p:cNvPicPr>
          <p:nvPr/>
        </p:nvPicPr>
        <p:blipFill>
          <a:blip r:embed="rId3"/>
          <a:stretch>
            <a:fillRect/>
          </a:stretch>
        </p:blipFill>
        <p:spPr>
          <a:xfrm>
            <a:off x="731520" y="1417320"/>
            <a:ext cx="7498079" cy="2977765"/>
          </a:xfrm>
          <a:prstGeom prst="rect">
            <a:avLst/>
          </a:prstGeom>
        </p:spPr>
      </p:pic>
      <p:sp>
        <p:nvSpPr>
          <p:cNvPr id="5" name="Rounded Rectangle 4"/>
          <p:cNvSpPr/>
          <p:nvPr/>
        </p:nvSpPr>
        <p:spPr>
          <a:xfrm>
            <a:off x="8412480" y="1554480"/>
            <a:ext cx="3586232" cy="3611880"/>
          </a:xfrm>
          <a:prstGeom prst="roundRect">
            <a:avLst/>
          </a:prstGeom>
          <a:solidFill>
            <a:srgbClr val="EEF1F4"/>
          </a:solidFill>
          <a:ln>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41080" y="1783080"/>
            <a:ext cx="3156910" cy="2862322"/>
          </a:xfrm>
          <a:prstGeom prst="rect">
            <a:avLst/>
          </a:prstGeom>
          <a:noFill/>
        </p:spPr>
        <p:txBody>
          <a:bodyPr wrap="square">
            <a:spAutoFit/>
          </a:bodyPr>
          <a:lstStyle/>
          <a:p>
            <a:pPr algn="l"/>
            <a:r>
              <a:rPr sz="1800" b="0" dirty="0">
                <a:solidFill>
                  <a:srgbClr val="202529"/>
                </a:solidFill>
                <a:latin typeface="Aptos"/>
              </a:rPr>
              <a:t>Representative findings</a:t>
            </a:r>
            <a:br>
              <a:rPr dirty="0"/>
            </a:br>
            <a:br>
              <a:rPr dirty="0"/>
            </a:br>
            <a:r>
              <a:rPr dirty="0"/>
              <a:t>Best ROUGE-L: 0.856</a:t>
            </a:r>
            <a:br>
              <a:rPr dirty="0"/>
            </a:br>
            <a:r>
              <a:rPr dirty="0"/>
              <a:t>Best </a:t>
            </a:r>
            <a:r>
              <a:rPr dirty="0" err="1"/>
              <a:t>BERTScore</a:t>
            </a:r>
            <a:r>
              <a:rPr dirty="0"/>
              <a:t>: 0.970</a:t>
            </a:r>
            <a:br>
              <a:rPr dirty="0"/>
            </a:br>
            <a:r>
              <a:rPr dirty="0"/>
              <a:t>Latest accepting blocs: 5 / 8</a:t>
            </a:r>
            <a:br>
              <a:rPr dirty="0"/>
            </a:br>
            <a:r>
              <a:rPr dirty="0"/>
              <a:t>Latest blocking blocs: 3 / 8</a:t>
            </a:r>
            <a:br>
              <a:rPr dirty="0"/>
            </a:br>
            <a:br>
              <a:rPr dirty="0"/>
            </a:br>
            <a:r>
              <a:rPr dirty="0"/>
              <a:t>The system writes realistic text before it reliably reaches full consensus.</a:t>
            </a:r>
          </a:p>
        </p:txBody>
      </p:sp>
      <p:sp>
        <p:nvSpPr>
          <p:cNvPr id="7" name="TextBox 6"/>
          <p:cNvSpPr txBox="1"/>
          <p:nvPr/>
        </p:nvSpPr>
        <p:spPr>
          <a:xfrm>
            <a:off x="868680" y="5755142"/>
            <a:ext cx="10241280" cy="707886"/>
          </a:xfrm>
          <a:prstGeom prst="rect">
            <a:avLst/>
          </a:prstGeom>
          <a:noFill/>
        </p:spPr>
        <p:txBody>
          <a:bodyPr wrap="square">
            <a:spAutoFit/>
          </a:bodyPr>
          <a:lstStyle/>
          <a:p>
            <a:pPr algn="l"/>
            <a:r>
              <a:rPr sz="2000" b="0" dirty="0">
                <a:solidFill>
                  <a:srgbClr val="626C79"/>
                </a:solidFill>
                <a:latin typeface="Aptos"/>
              </a:rPr>
              <a:t>Observed pattern: textual alignment improved earlier than political acceptability, which makes endgame behavior the key bottleneck.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AF8"/>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685800"/>
          </a:xfrm>
          <a:prstGeom prst="rect">
            <a:avLst/>
          </a:prstGeom>
          <a:noFill/>
        </p:spPr>
        <p:txBody>
          <a:bodyPr wrap="square">
            <a:spAutoFit/>
          </a:bodyPr>
          <a:lstStyle/>
          <a:p>
            <a:pPr algn="l"/>
            <a:r>
              <a:rPr sz="2800" b="1">
                <a:solidFill>
                  <a:srgbClr val="193856"/>
                </a:solidFill>
                <a:latin typeface="Aptos"/>
              </a:rPr>
              <a:t>Next Steps</a:t>
            </a:r>
          </a:p>
        </p:txBody>
      </p:sp>
      <p:sp>
        <p:nvSpPr>
          <p:cNvPr id="3" name="Rectangle 2"/>
          <p:cNvSpPr/>
          <p:nvPr/>
        </p:nvSpPr>
        <p:spPr>
          <a:xfrm>
            <a:off x="594360" y="987552"/>
            <a:ext cx="1920240" cy="45720"/>
          </a:xfrm>
          <a:prstGeom prst="rect">
            <a:avLst/>
          </a:prstGeom>
          <a:solidFill>
            <a:srgbClr val="286E76"/>
          </a:solidFill>
          <a:ln>
            <a:solidFill>
              <a:srgbClr val="286E7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731520" y="1554480"/>
            <a:ext cx="5394960" cy="2800767"/>
          </a:xfrm>
          <a:prstGeom prst="rect">
            <a:avLst/>
          </a:prstGeom>
          <a:noFill/>
        </p:spPr>
        <p:txBody>
          <a:bodyPr wrap="square">
            <a:spAutoFit/>
          </a:bodyPr>
          <a:lstStyle/>
          <a:p>
            <a:r>
              <a:rPr lang="en-US" altLang="zh-CN" sz="2200" dirty="0">
                <a:solidFill>
                  <a:srgbClr val="202529"/>
                </a:solidFill>
                <a:latin typeface="Aptos"/>
              </a:rPr>
              <a:t>-</a:t>
            </a:r>
            <a:r>
              <a:rPr lang="zh-CN" altLang="en-US" sz="2200" dirty="0">
                <a:solidFill>
                  <a:srgbClr val="202529"/>
                </a:solidFill>
                <a:latin typeface="Aptos"/>
              </a:rPr>
              <a:t> </a:t>
            </a:r>
            <a:r>
              <a:rPr sz="2200" dirty="0">
                <a:solidFill>
                  <a:srgbClr val="202529"/>
                </a:solidFill>
                <a:latin typeface="Aptos"/>
              </a:rPr>
              <a:t>Expand from one scenario to a broader set of negotiation topics.</a:t>
            </a:r>
          </a:p>
          <a:p>
            <a:r>
              <a:rPr lang="en-US" altLang="zh-CN" sz="2200" dirty="0">
                <a:solidFill>
                  <a:srgbClr val="202529"/>
                </a:solidFill>
                <a:latin typeface="Aptos"/>
              </a:rPr>
              <a:t>-</a:t>
            </a:r>
            <a:r>
              <a:rPr lang="zh-CN" altLang="en-US" sz="2200" dirty="0">
                <a:solidFill>
                  <a:srgbClr val="202529"/>
                </a:solidFill>
                <a:latin typeface="Aptos"/>
              </a:rPr>
              <a:t> </a:t>
            </a:r>
            <a:r>
              <a:rPr sz="2200" dirty="0">
                <a:solidFill>
                  <a:srgbClr val="202529"/>
                </a:solidFill>
                <a:latin typeface="Aptos"/>
              </a:rPr>
              <a:t>Run controlled ablations on bloc composition and behavioral parameters.</a:t>
            </a:r>
          </a:p>
          <a:p>
            <a:r>
              <a:rPr lang="en-US" altLang="zh-CN" sz="2200" dirty="0">
                <a:solidFill>
                  <a:srgbClr val="202529"/>
                </a:solidFill>
                <a:latin typeface="Aptos"/>
              </a:rPr>
              <a:t>-</a:t>
            </a:r>
            <a:r>
              <a:rPr lang="zh-CN" altLang="en-US" sz="2200" dirty="0">
                <a:solidFill>
                  <a:srgbClr val="202529"/>
                </a:solidFill>
                <a:latin typeface="Aptos"/>
              </a:rPr>
              <a:t> </a:t>
            </a:r>
            <a:r>
              <a:rPr sz="2200" dirty="0">
                <a:solidFill>
                  <a:srgbClr val="202529"/>
                </a:solidFill>
                <a:latin typeface="Aptos"/>
              </a:rPr>
              <a:t>Compare model families under the same negotiation protocol.</a:t>
            </a:r>
          </a:p>
          <a:p>
            <a:r>
              <a:rPr lang="en-US" altLang="zh-CN" sz="2200" dirty="0">
                <a:solidFill>
                  <a:srgbClr val="202529"/>
                </a:solidFill>
                <a:latin typeface="Aptos"/>
              </a:rPr>
              <a:t>-</a:t>
            </a:r>
            <a:r>
              <a:rPr lang="zh-CN" altLang="en-US" sz="2200" dirty="0">
                <a:solidFill>
                  <a:srgbClr val="202529"/>
                </a:solidFill>
                <a:latin typeface="Aptos"/>
              </a:rPr>
              <a:t> </a:t>
            </a:r>
            <a:r>
              <a:rPr sz="2200" dirty="0">
                <a:solidFill>
                  <a:srgbClr val="202529"/>
                </a:solidFill>
                <a:latin typeface="Aptos"/>
              </a:rPr>
              <a:t>Improve endgame convergence without collapsing bloc distinctions.</a:t>
            </a:r>
          </a:p>
        </p:txBody>
      </p:sp>
      <p:sp>
        <p:nvSpPr>
          <p:cNvPr id="5" name="Rounded Rectangle 4"/>
          <p:cNvSpPr/>
          <p:nvPr/>
        </p:nvSpPr>
        <p:spPr>
          <a:xfrm>
            <a:off x="6400800" y="1645920"/>
            <a:ext cx="4572000" cy="3931920"/>
          </a:xfrm>
          <a:prstGeom prst="roundRect">
            <a:avLst/>
          </a:prstGeom>
          <a:solidFill>
            <a:srgbClr val="EEF1F4"/>
          </a:solidFill>
          <a:ln>
            <a:solidFill>
              <a:srgbClr val="C8CFD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675120" y="1920240"/>
            <a:ext cx="3977639" cy="3291840"/>
          </a:xfrm>
          <a:prstGeom prst="rect">
            <a:avLst/>
          </a:prstGeom>
          <a:noFill/>
        </p:spPr>
        <p:txBody>
          <a:bodyPr wrap="square">
            <a:spAutoFit/>
          </a:bodyPr>
          <a:lstStyle/>
          <a:p>
            <a:pPr algn="l"/>
            <a:r>
              <a:rPr sz="2200" b="0">
                <a:solidFill>
                  <a:srgbClr val="202529"/>
                </a:solidFill>
                <a:latin typeface="Aptos"/>
              </a:rPr>
              <a:t>Research contribution</a:t>
            </a:r>
            <a:br/>
            <a:br/>
            <a:r>
              <a:t>A reusable workflow for studying whether LLM agents can negotiate like structured political actors, not just generate fluent text.</a:t>
            </a:r>
            <a:br/>
            <a:br/>
            <a:r>
              <a:t>This is the bridge from a proof of concept to a paper-ready experimental platform.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1934</TotalTime>
  <Words>1636</Words>
  <Application>Microsoft Macintosh PowerPoint</Application>
  <PresentationFormat>Widescreen</PresentationFormat>
  <Paragraphs>88</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Ziqi Wei</cp:lastModifiedBy>
  <cp:revision>4</cp:revision>
  <dcterms:created xsi:type="dcterms:W3CDTF">2013-01-27T09:14:16Z</dcterms:created>
  <dcterms:modified xsi:type="dcterms:W3CDTF">2026-04-15T18:09:39Z</dcterms:modified>
  <cp:category/>
</cp:coreProperties>
</file>