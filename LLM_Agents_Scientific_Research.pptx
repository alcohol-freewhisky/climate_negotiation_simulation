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 snapToObjects="1">
      <p:cViewPr varScale="1">
        <p:scale>
          <a:sx n="115" d="100"/>
          <a:sy n="115" d="100"/>
        </p:scale>
        <p:origin x="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12191695" cy="2926080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91440" cy="32004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F3C"/>
                </a:solidFill>
                <a:latin typeface="Calibri"/>
              </a:defRPr>
            </a:pPr>
            <a:r>
              <a:t>From Chatbots to Co-Pilots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B7DD8"/>
                </a:solidFill>
                <a:latin typeface="Calibri"/>
              </a:defRPr>
            </a:pPr>
            <a:r>
              <a:t>LLM Agents &amp; Autonomous Workflows in Scientific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rPr lang="en-US" dirty="0"/>
              <a:t>Ziqi Wei</a:t>
            </a:r>
            <a:r>
              <a:rPr dirty="0"/>
              <a:t>  |  </a:t>
            </a:r>
            <a:r>
              <a:rPr lang="en-US" dirty="0"/>
              <a:t>Howland</a:t>
            </a:r>
            <a:r>
              <a:rPr dirty="0"/>
              <a:t> Group Meeting  |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1  |  REDEFINING THE LLM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The Evolution of AI in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377440" cy="237744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7DD8"/>
                </a:solidFill>
                <a:latin typeface="Calibri"/>
              </a:defRPr>
            </a:pPr>
            <a:r>
              <a:t>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Text &amp; code</a:t>
            </a:r>
            <a:br/>
            <a:r>
              <a:t>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77440"/>
            <a:ext cx="2377440" cy="237744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7DD8"/>
                </a:solidFill>
                <a:latin typeface="Calibri"/>
              </a:defRPr>
            </a:pPr>
            <a:r>
              <a:t>Conversational</a:t>
            </a:r>
            <a:br/>
            <a:r>
              <a:t>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3832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ChatGPT-style</a:t>
            </a:r>
            <a:br/>
            <a:r>
              <a:t>Q&amp;A interfaces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2377440" cy="237744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7DD8"/>
                </a:solidFill>
                <a:latin typeface="Calibri"/>
              </a:defRPr>
            </a:pPr>
            <a:r>
              <a:t>Autonomous</a:t>
            </a:r>
            <a:br/>
            <a:r>
              <a:t>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832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Plan, execute,</a:t>
            </a:r>
            <a:br/>
            <a:r>
              <a:t>self-correct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377440"/>
            <a:ext cx="2377440" cy="237744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7DD8"/>
                </a:solidFill>
                <a:latin typeface="Calibri"/>
              </a:defRPr>
            </a:pPr>
            <a:r>
              <a:t>Multi-Agent</a:t>
            </a:r>
            <a:br/>
            <a:r>
              <a:t>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3832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Virtual labs &amp;</a:t>
            </a:r>
            <a:br/>
            <a:r>
              <a:t>orchestrated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CB0"/>
                </a:solidFill>
                <a:latin typeface="Calibri"/>
              </a:defRPr>
            </a:pPr>
            <a:r>
              <a:t>Core thesis:  We are moving from AI as an "encyclopedia" to AI as an "execution engine."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1  |  REDEFINING THE LLM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What Exactly is an "Agent"?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560320" cy="25603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7DD8"/>
                </a:solidFill>
                <a:latin typeface="Calibri"/>
              </a:defRPr>
            </a:pPr>
            <a:r>
              <a:t>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3A5F"/>
                </a:solidFill>
                <a:latin typeface="Calibri"/>
              </a:defRPr>
            </a:pPr>
            <a:r>
              <a:t>Foundation model (LLM)</a:t>
            </a:r>
            <a:br/>
            <a:r>
              <a:t>Reasoning &amp;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86000"/>
            <a:ext cx="2560320" cy="25603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7DD8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3A5F"/>
                </a:solidFill>
                <a:latin typeface="Calibri"/>
              </a:defRPr>
            </a:pPr>
            <a:r>
              <a:t>Vector DB (RAG) + conversation</a:t>
            </a:r>
            <a:br/>
            <a:r>
              <a:t>context + long-term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86000"/>
            <a:ext cx="2560320" cy="25603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7DD8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3A5F"/>
                </a:solidFill>
                <a:latin typeface="Calibri"/>
              </a:defRPr>
            </a:pPr>
            <a:r>
              <a:t>Task decomposition,</a:t>
            </a:r>
            <a:br/>
            <a:r>
              <a:t>Chain-of-Thought, tree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286000"/>
            <a:ext cx="2560320" cy="25603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7DD8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3A5F"/>
                </a:solidFill>
                <a:latin typeface="Calibri"/>
              </a:defRPr>
            </a:pPr>
            <a:r>
              <a:t>API calls, bash, Python</a:t>
            </a:r>
            <a:br/>
            <a:r>
              <a:t>interpreter, file I/O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CB0"/>
                </a:solidFill>
                <a:latin typeface="Calibri"/>
              </a:defRPr>
            </a:pPr>
            <a:r>
              <a:t>An agent = LLM + memory + planning + tool access, operating in a loop.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1  |  REDEFINING THE LLM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The ReAct Paradigm (Reasoning + Acting)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2103120" cy="10972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B7DD8"/>
                </a:solidFill>
                <a:latin typeface="Calibri"/>
              </a:defRPr>
            </a:pPr>
            <a:r>
              <a:t>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651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468880"/>
            <a:ext cx="2103120" cy="10972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2651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B7DD8"/>
                </a:solidFill>
                <a:latin typeface="Calibri"/>
              </a:defRPr>
            </a:pPr>
            <a:r>
              <a:t>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9" y="2651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468880"/>
            <a:ext cx="2103120" cy="10972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B7DD8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651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2468880"/>
            <a:ext cx="2103120" cy="10972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59" y="2651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B7DD8"/>
                </a:solidFill>
                <a:latin typeface="Calibri"/>
              </a:defRPr>
            </a:pPr>
            <a:r>
              <a:t>Observation₂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The agent reasons about what it observes, takes an action, then re-evaluates.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Why it matters for research: self-correction based on intermediate outputs.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Example: Agent reads a solver log, spots infeasibility, adjusts constraints, re-runs.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1  |  REDEFINING THE LLM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MCP: The Universal Tool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Model Context Protocol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 standard interface connecting LLMs to any external tool, data source, or service.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Think of it as USB-C for AI agents — one protocol, infinite tools.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Eliminates custom integration code per tool.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Adopted by Claude Code, Cursor, Windsurf, and growing ecosystem.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Why MCP Matters for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Connect agents to Slack, Google Drive, databases, HPC schedulers.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Community MCP servers for SLURM, Jupyter, PostgreSQL already exist.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Build once, reuse across any MCP-compatible client.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Our lab can build a SLURM MCP server → every team member benefits.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Evaluating Models: What Actually Matters for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Standard benchmarks (MMLU, HumanEval) do NOT reflect scientific utility.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What actually matters for our workflows: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•  Tool-calling accuracy — Can the model reliably invoke APIs, bash, solvers?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•  Long-context retrieval — Can it find the right variable in a 5,000-line script?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•  Niche coding syntax — Julia, JuMP, Gurobi, GAMS, domain-specific DSLs.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•  Agentic capability — Can it plan, execute, and self-correct across multi-step tasks?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•  Cost efficiency — How much does a typical debugging session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Claude Opus 4.7 / Sonnet 4.6 (Anthropic)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#1 on SWE-bench — best agentic coding model.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Lowest hallucination for math &amp; optimization.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1M token context, no long-context surcharge.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Claude Code: terminal-native agent (reads/writes/commits).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First-class MCP ecosystem.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Pricing (API pay-per-token)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Opus 4.7:   $5 / M input, $25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Sonnet 4.6: $3 / M input, $15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Haiku 4.5:  $1 / M input, $5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Prompt caching: 90% savings on repeated context.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Batch API: additional 50% off (async jobs).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Combined savings up to 95%.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GPT-5.4 / o3 / o4-mini (OpenAI)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GPT-5.4: flagship, 1.1M context, strong all-rounder.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o3: advanced reasoning model for math-heavy tasks.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o4-mini: most cost-effective reasoning model.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Most stable function / API calling across the industry.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Excellent multi-modal input (images, plots, diagrams).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Pricing (API pay-per-token)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GPT-5.4:    $2.50 / M input, $15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GPT-4.1:    $2.00 / M input, $8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o3:         $2.00 / M input, $8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o4-mini:    $1.10 / M input, $4.40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GPT-5.4 doubles price above 272K context.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Codex CLI: OpenAI's coding agent (like Claude Code).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Gemini 3.1 Pro / 2.5 Flash (Google)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Gemini 3.1 Pro: 77.1% ARC-AGI-2 (vs 31.1% for 3.0).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45-80% gains on agentic benchmarks over predecessor.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Gemini 2.5 Flash: 1M context at incredibly low cost.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Best-in-class for high-volume, budget-sensitive workloads.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Strong multimodal: images, video, audio natively.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Pricing (API pay-per-token)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Gemini 3.1 Pro: $2.00 / M input, $12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(doubles above 200K context)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Gemini 2.5 Flash: $0.30 / M input, $2.50 / M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(cheapest frontier model available)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Generous free tier for experimentation.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Google One AI Premium: $20/mo consumer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Open-Weight Models: Free &amp; Local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Key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DeepSeek-V3 / R1 — top reasoning, fraction of API cost.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Qwen 3 — strong multilingual + code, Apache 2.0 license.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Llama 4 (Meta) — massive community, fine-tunable.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Mistral Large — fast, efficient for tool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Why Open-Weight for Labs?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Deploy on HPC (Great Lakes, ORCD) — data never leaves.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No API costs at scale (GPU time only).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Fine-tune on domain data (climate, energy, optimization).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Ollama / vLLM for easy local serving.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Full reproducibility: pin exact model weights.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Model Comparison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82880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203911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65960"/>
            <a:ext cx="192024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9152" y="20391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Claude 4.7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965960"/>
            <a:ext cx="192024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9392" y="20391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GPT-5.4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65960"/>
            <a:ext cx="192024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20391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Gemini 3.1P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965960"/>
            <a:ext cx="192024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9872" y="20391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Open-Weight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1965960"/>
            <a:ext cx="192024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40112" y="20391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Gemini Flash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182880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54203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Coding/Agents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46888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59152" y="25420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46888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9392" y="25420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46888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2" y="25420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46888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19872" y="25420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246888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2" y="25420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718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04495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Tool Calling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29718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9152" y="30449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9718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9392" y="30449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9718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30449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9718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19872" y="30449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29718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40112" y="30449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474720"/>
            <a:ext cx="182880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354787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Reasoning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347472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59152" y="35478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47472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79392" y="35478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47472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99632" y="35478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347472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35478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66960" y="347472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40112" y="35478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9776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405079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3977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359152" y="405079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1M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3977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79392" y="405079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1.1M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977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99632" y="405079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1M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46720" y="3977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19872" y="405079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128K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66960" y="3977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040112" y="405079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1M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480560"/>
            <a:ext cx="182880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352" y="455371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48056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359152" y="45537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448056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79392" y="45537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448056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99632" y="45537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46720" y="448056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19872" y="45537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66960" y="448056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040112" y="455371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★★★★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98348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0352" y="505663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Local Deploy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0" y="498348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359152" y="50566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06240" y="498348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79392" y="50566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26480" y="498348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199632" y="50566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46720" y="498348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19872" y="50566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✓✓✓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66960" y="498348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040112" y="505663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486400"/>
            <a:ext cx="182880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0352" y="555955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Input $/M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0" y="548640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359152" y="55595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$5.00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06240" y="548640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279392" y="55595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$2.50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548640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99632" y="55595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$2.00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46720" y="548640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119872" y="55595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966960" y="5486400"/>
            <a:ext cx="192024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040112" y="555955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$0.30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59893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30352" y="606247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Output $/M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0" y="598932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359152" y="60624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$25.00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98932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79392" y="60624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$15.00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26480" y="598932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199632" y="60624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$12.00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46720" y="598932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119872" y="60624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966960" y="598932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040112" y="6062472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  <a:latin typeface="Calibri"/>
              </a:defRPr>
            </a:pPr>
            <a:r>
              <a:t>$2.50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How Pay-by-Token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The Token Economy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1 token ≈ 4 characters ≈ 0.75 words.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You pay per token for both input AND output.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Input: your prompt + system instructions + context.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Output: the model's response.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Longer conversations = higher cost (context accumulates).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Real-World Cost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 typical debugging session (5 rounds):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≈ 50K tokens → ~$0.50-$2.00 depending on model.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 full agentic workflow (30 min agent run):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≈ 500K tokens → ~$5-$15.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Prompt caching: reuse context → 90% cheaper.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Batch API: async jobs → 50% cheaper.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Integrated AI Coding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743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AI-native IDE (VS Code fork).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Inline edits + chat + agent.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Multi-model: Claude, GPT, Gemini.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Students: 1yr Pro FREE (.edu).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Pro $20/mo, Ultra $200/mo.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03120"/>
            <a:ext cx="2743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1012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GitHub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0604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Deep VS Code / JetBrains integration.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Agent mode (multi-file edits).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Free tier: 2K completions/mo.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Students: Pro FREE (edu pack).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Pro $10/mo, Pro+ $39/mo.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743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Windsurf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0604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AI IDE with SWE-1 agent.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Multi-model backend.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Unlimited tab/inline edits.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Students: ~$8-10/mo (.edu).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Pro $20/mo, Max $40/mo.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103120"/>
            <a:ext cx="2743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622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60604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Terminal-native agent.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Read/write/test/commit.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MCP tool integration.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Pro $20/mo or API key.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Max $100/mo (5x capacity).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Platform Pricing &amp; Billing Model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82880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99339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920240"/>
            <a:ext cx="210312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50592" y="199339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920240"/>
            <a:ext cx="210312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9339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920240"/>
            <a:ext cx="210312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2" y="199339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Windsurf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920240"/>
            <a:ext cx="210312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9952" y="199339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182880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49631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Monthly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42316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50592" y="249631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$20 (Pro)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42316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249631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$10 (Pro)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42316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6832" y="249631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$20 (Pro)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42316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59952" y="249631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$20 (Pro)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2608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299923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Student Price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92608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50592" y="299923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FREE 1yr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92608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712" y="299923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FREE (edu)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92608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56832" y="299923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~$8/mo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292608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59952" y="299923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$20 (no disc.)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29000"/>
            <a:ext cx="182880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350215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Billing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42900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50592" y="350215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Sub + credits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342900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53712" y="350215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Sub + quota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42900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56832" y="350215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Sub + quota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42900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59952" y="350215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Sub or API key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9319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" y="400507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Multi-Model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39319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50592" y="400507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 (3+ LLMs)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39319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53712" y="400507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 (3+ LLMs)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9319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56832" y="400507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 (3+ LLMs)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39319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59952" y="400507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Claude only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434840"/>
            <a:ext cx="182880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" y="450799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Agent Mode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443484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50592" y="450799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443484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53712" y="450799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 (new)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443484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56832" y="450799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 (SWE-1)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443484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59952" y="450799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 (native)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9377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1792" y="501091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Terminal Agent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77440" y="493776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50592" y="501091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493776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53712" y="501091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CLI preview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83680" y="493776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656832" y="501091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86800" y="493776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59952" y="501091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Full (primary)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5440680"/>
            <a:ext cx="182880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1792" y="551383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MCP Support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77440" y="544068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450592" y="551383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80560" y="544068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53712" y="551383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0" y="544068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656832" y="551383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0" y="5440680"/>
            <a:ext cx="2103120" cy="502920"/>
          </a:xfrm>
          <a:prstGeom prst="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759952" y="551383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Yes (native)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59436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1792" y="601675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Team/Lab Plan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377440" y="594360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50592" y="601675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$40/seat/mo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480560" y="594360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553712" y="601675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$19/seat/mo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0" y="594360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656832" y="601675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Contact sales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0" y="594360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759952" y="6016752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Calibri"/>
              </a:defRPr>
            </a:pPr>
            <a:r>
              <a:t>$100/seat/mo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Recommendation: Which Plan Should Our Lab Subscribe?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3891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35254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Recommended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1. Everyone: claim Cursor Pro FREE (1yr, .edu email).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2. Everyone: claim Copilot Pro FREE (GitHub edu pack).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3. Lab plan: Anthropic API key (pay-per-token, shared).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 → Use via Claude Code for heavy agentic work.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 → Prompt caching + batch API = 90-95% savings.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4. For HPC: deploy open-weight models (free, private).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3891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35254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Cost Estimate (10-person lab)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Cursor: $0/mo (student free tier).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Copilot: $0/mo (student free tier).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Claude API: ~$50-200/mo shared (usage-based).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(set budget alerts at $100, $200 thresholds)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Open-weight on HPC: $0 (use existing GPU allocation).</a:t>
            </a:r>
          </a:p>
          <a:p>
            <a:pPr>
              <a:spcAft>
                <a:spcPts val="600"/>
              </a:spcAft>
            </a:pPr>
            <a:endParaRPr sz="16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Total: ~$50-200/mo for the entire lab.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2  |  MODELS, PLATFORMS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RAG for Literature Review &amp; Paper Digestion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Ready-to-Use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NotebookLM (Google) — upload PDFs, get Q&amp;A + audio summaries.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Elicit / Consensus — structured literature search + LLM synthesis.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Semantic Scholar API + RAG pipeline — custom paper Q&amp;A.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Zotero + LLM plugins — chat with your entire library.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Custom RAG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Chunk papers → embed → store in vector DB (Chroma).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Query: LLM retrieves relevant chunks, then answers.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Add citation tracking for reproducibility.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Ideal for domain corpora (e.g., all IPCC reports).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3  |  MULTI-AGENT &amp; MULTI-MODEL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Why Single Agents Fail in Complex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E3A5F"/>
                </a:solidFill>
                <a:latin typeface="Calibri"/>
              </a:rPr>
              <a:t>•  "Lost in the Middle" — context fills up; agent forgets primary objective.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E3A5F"/>
                </a:solidFill>
                <a:latin typeface="Calibri"/>
              </a:rPr>
              <a:t>•  Infinite loops — retries the same failing approach without escalating.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E3A5F"/>
                </a:solidFill>
                <a:latin typeface="Calibri"/>
              </a:rPr>
              <a:t>•  Role confusion — one agent can't be expert debugger AND careful analyst.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E3A5F"/>
                </a:solidFill>
                <a:latin typeface="Calibri"/>
              </a:rPr>
              <a:t>•  No separation of concerns — debugging pollutes the analysis context.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E3A5F"/>
                </a:solidFill>
                <a:latin typeface="Calibri"/>
              </a:rPr>
              <a:t>•  Single-model limitation — no one model is best at everything.</a:t>
            </a:r>
          </a:p>
          <a:p>
            <a:pPr>
              <a:spcAft>
                <a:spcPts val="600"/>
              </a:spcAft>
            </a:pPr>
            <a:endParaRPr sz="19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E3A5F"/>
                </a:solidFill>
                <a:latin typeface="Calibri"/>
              </a:rPr>
              <a:t>Solution: multiple specialized agents, potentially using different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3  |  MULTI-AGENT &amp; MULTI-MODEL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The Supervisor-Worker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011680"/>
            <a:ext cx="4389120" cy="1097280"/>
          </a:xfrm>
          <a:prstGeom prst="roundRect">
            <a:avLst/>
          </a:prstGeom>
          <a:solidFill>
            <a:srgbClr val="3B7DD8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0" y="2148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SUPERVISOR  (Opus 4.7)</a:t>
            </a:r>
            <a:br/>
            <a:r>
              <a:t>Decomposes task, assigns, 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2560320" cy="21031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7DD8"/>
                </a:solidFill>
                <a:latin typeface="Calibri"/>
              </a:defRPr>
            </a:pPr>
            <a:r>
              <a:t>Data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  <a:latin typeface="Calibri"/>
              </a:defRPr>
            </a:pPr>
            <a:r>
              <a:t>(Sonnet 4.6)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3A5F"/>
                </a:solidFill>
                <a:latin typeface="Calibri"/>
              </a:defRPr>
            </a:pPr>
            <a:r>
              <a:t>Clean, transform,</a:t>
            </a:r>
            <a:br/>
            <a:r>
              <a:t>validate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004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7DD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114800"/>
            <a:ext cx="2560320" cy="21031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7DD8"/>
                </a:solidFill>
                <a:latin typeface="Calibri"/>
              </a:defRPr>
            </a:pPr>
            <a:r>
              <a:t>Solver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  <a:latin typeface="Calibri"/>
              </a:defRPr>
            </a:pPr>
            <a:r>
              <a:t>(GPT-5.4)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892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3A5F"/>
                </a:solidFill>
                <a:latin typeface="Calibri"/>
              </a:defRPr>
            </a:pPr>
            <a:r>
              <a:t>Formulate &amp; run</a:t>
            </a:r>
            <a:br/>
            <a:r>
              <a:t>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2004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7DD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114800"/>
            <a:ext cx="2560320" cy="21031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799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7DD8"/>
                </a:solidFill>
                <a:latin typeface="Calibri"/>
              </a:defRPr>
            </a:pPr>
            <a:r>
              <a:t>SLURM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  <a:latin typeface="Calibri"/>
              </a:defRPr>
            </a:pPr>
            <a:r>
              <a:t>(Haiku 4.5)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4892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3A5F"/>
                </a:solidFill>
                <a:latin typeface="Calibri"/>
              </a:defRPr>
            </a:pPr>
            <a:r>
              <a:t>Write SBATCH,</a:t>
            </a:r>
            <a:br/>
            <a:r>
              <a:t>submit,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32004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7DD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19" y="4114800"/>
            <a:ext cx="2560320" cy="210312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59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7DD8"/>
                </a:solidFill>
                <a:latin typeface="Calibri"/>
              </a:defRPr>
            </a:pPr>
            <a:r>
              <a:t>Analyst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  <a:latin typeface="Calibri"/>
              </a:defRPr>
            </a:pPr>
            <a:r>
              <a:t>(Gemini 3.1)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4892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3A5F"/>
                </a:solidFill>
                <a:latin typeface="Calibri"/>
              </a:defRPr>
            </a:pPr>
            <a:r>
              <a:t>Interpret results,</a:t>
            </a:r>
            <a:br/>
            <a:r>
              <a:t>generate plots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19" y="32004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7DD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3  |  MULTI-AGENT &amp; MULTI-MODEL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Multi-Model Orchestration: Best Model for Each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Why Mix Models?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No single model dominates every dimension.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Claude: best at coding &amp; debugging agents.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GPT-5.4: best at tool calling &amp; vision.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Gemini 3.1: best reasoning per dollar.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Gemini Flash / Haiku: cheapest for simple routing tasks.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Open-weight: free for HPC, private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How to 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LangGraph: each node can use a different LLM.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Router pattern: cheap model triages → expensive model executes.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Cost optimization: use Haiku/Flash for 80% of tokens, Opus for 20%.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Fallback chains: if Model A fails, try Model B.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A/B testing: compare model outputs on same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3  |  MULTI-AGENT &amp; MULTI-MODEL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Frameworks: LangGraph vs. CrewAI vs. Claude Agent SDK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356616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State-machine workflows.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Explicit edges &amp; conditions.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Best for strict scientific pipelines.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Multi-model: each node = different LLM.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If solver_error → route to Debugger.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03120"/>
            <a:ext cx="356616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2452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Role-based "company" metaphor.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Quick setup: define roles &amp; goals.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Best for exploratory workflows.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Built-in delegation &amp; memory.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Easy to prototype in an afternoon.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56616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500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Claude Agent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Anthropic's native multi-agent framework.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First-class MCP tool support.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Handoffs between specialized agents.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Guardrails built in.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Ideal for Claude-based pipelines.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3  |  MULTI-AGENT &amp; MULTI-MODEL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Example: LangGraph with Multi-Model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45720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5F"/>
                </a:solidFill>
                <a:latin typeface="Courier New"/>
              </a:defRPr>
            </a:pPr>
            <a:r>
              <a:t>from langgraph.graph import StateGraph</a:t>
            </a:r>
            <a:br/>
            <a:r>
              <a:t>from langchain_anthropic import ChatAnthropic</a:t>
            </a:r>
            <a:br/>
            <a:r>
              <a:t>from langchain_openai import ChatOpenAI</a:t>
            </a:r>
            <a:br/>
            <a:br/>
            <a:r>
              <a:t># Different models for different tasks</a:t>
            </a:r>
            <a:br/>
            <a:r>
              <a:t>solver_llm  = ChatAnthropic(model="claude-opus-4-7")    # best at code</a:t>
            </a:r>
            <a:br/>
            <a:r>
              <a:t>analyst_llm = ChatOpenAI(model="gpt-5.4")               # best at vision</a:t>
            </a:r>
            <a:br/>
            <a:r>
              <a:t>router_llm  = ChatAnthropic(model="claude-haiku-4-5")   # cheapest for routing</a:t>
            </a:r>
            <a:br/>
            <a:br/>
            <a:r>
              <a:t>def check_convergence(state):</a:t>
            </a:r>
            <a:br/>
            <a:r>
              <a:t>    if state["solver_status"] == "optimal":</a:t>
            </a:r>
            <a:br/>
            <a:r>
              <a:t>        return "analyze"        # proceed to analysis (GPT-5.4)</a:t>
            </a:r>
            <a:br/>
            <a:r>
              <a:t>    elif state["retry_count"] &gt;= 3:</a:t>
            </a:r>
            <a:br/>
            <a:r>
              <a:t>        return "human_review"   # escalate to human</a:t>
            </a:r>
            <a:br/>
            <a:r>
              <a:t>    else:</a:t>
            </a:r>
            <a:br/>
            <a:r>
              <a:t>        return "debug"          # route to debugger (Opus)</a:t>
            </a:r>
            <a:br/>
            <a:br/>
            <a:r>
              <a:t>graph = StateGraph(SolverState)</a:t>
            </a:r>
            <a:br/>
            <a:r>
              <a:t>graph.add_conditional_edges("solve", check_convergence)</a:t>
            </a:r>
            <a:br/>
            <a:r>
              <a:t>workflow = graph.compile()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4  |  HPC &amp; LOCAL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Bridging the LLM and the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LLMs live in the cloud (API calls).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Our data &amp; heavy compute live on SLURM clusters.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Sensitive data cannot leave the cluster.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Latency: API round-trips add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Option A: SSH-tunneled agents (Claude Code / Aider over SSH).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Option B: MCP servers running on login nodes.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Option C: Local open-weight models via vLLM on GPU nodes.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Option D: Hybrid — cloud API for reasoning, local for data I/O.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4  |  HPC &amp; LOCAL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How to Deploy LLMs on HPC (Step by Step)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1.  Request a GPU node:  salloc --gres=gpu:a100:1 --mem=80G --time=4:00:00</a:t>
            </a:r>
          </a:p>
          <a:p>
            <a:pPr>
              <a:spcAft>
                <a:spcPts val="600"/>
              </a:spcAft>
            </a:pPr>
            <a:endParaRPr sz="16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2.  Install vLLM (or Ollama) in a conda env: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    conda create -n llm python=3.11 &amp;&amp; pip install vllm</a:t>
            </a:r>
          </a:p>
          <a:p>
            <a:pPr>
              <a:spcAft>
                <a:spcPts val="600"/>
              </a:spcAft>
            </a:pPr>
            <a:endParaRPr sz="16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3.  Download model weights (one-time):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    huggingface-cli download deepseek-ai/DeepSeek-V3 --local-dir /scratch/models/</a:t>
            </a:r>
          </a:p>
          <a:p>
            <a:pPr>
              <a:spcAft>
                <a:spcPts val="600"/>
              </a:spcAft>
            </a:pPr>
            <a:endParaRPr sz="16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4.  Launch the server (OpenAI-compatible API):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    python -m vllm.entrypoints.openai.api_server --model /scratch/models/DeepSeek-V3</a:t>
            </a:r>
          </a:p>
          <a:p>
            <a:pPr>
              <a:spcAft>
                <a:spcPts val="600"/>
              </a:spcAft>
            </a:pPr>
            <a:endParaRPr sz="16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5.  Connect your agent (any OpenAI SDK client works):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      export OPENAI_BASE_URL=http://gpu-node:8000/v1</a:t>
            </a:r>
          </a:p>
          <a:p>
            <a:pPr>
              <a:spcAft>
                <a:spcPts val="600"/>
              </a:spcAft>
            </a:pPr>
            <a:endParaRPr sz="16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6.  SSH tunnel from laptop:  ssh -L 8000:gpu-node:8000 login.hpc.edu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4  |  HPC &amp; LOCAL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Automated Job Scheduling: The SLURM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77440"/>
            <a:ext cx="2103120" cy="2011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B7DD8"/>
                </a:solidFill>
                <a:latin typeface="Calibri"/>
              </a:defRPr>
            </a:pPr>
            <a:r>
              <a:t>1.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Parse experiment</a:t>
            </a:r>
            <a:br/>
            <a:r>
              <a:t>scripts (Py/Julia)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2377440"/>
            <a:ext cx="2103120" cy="2011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19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B7DD8"/>
                </a:solidFill>
                <a:latin typeface="Calibri"/>
              </a:defRPr>
            </a:pPr>
            <a:r>
              <a:t>2.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19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Predict resource</a:t>
            </a:r>
            <a:br/>
            <a:r>
              <a:t>needs (GPU, RAM)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377440"/>
            <a:ext cx="2103120" cy="2011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B7DD8"/>
                </a:solidFill>
                <a:latin typeface="Calibri"/>
              </a:defRPr>
            </a:pPr>
            <a:r>
              <a:t>3.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Generate #SBATCH</a:t>
            </a:r>
            <a:br/>
            <a:r>
              <a:t>directives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2377440"/>
            <a:ext cx="2103120" cy="2011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59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B7DD8"/>
                </a:solidFill>
                <a:latin typeface="Calibri"/>
              </a:defRPr>
            </a:pPr>
            <a:r>
              <a:t>4. Submit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sbatch + monitor</a:t>
            </a:r>
            <a:br/>
            <a:r>
              <a:t>squeue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926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7DD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377440"/>
            <a:ext cx="2103120" cy="2011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B7DD8"/>
                </a:solidFill>
                <a:latin typeface="Calibri"/>
              </a:defRPr>
            </a:pPr>
            <a:r>
              <a:t>5. React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017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3A5F"/>
                </a:solidFill>
                <a:latin typeface="Calibri"/>
              </a:defRPr>
            </a:pPr>
            <a:r>
              <a:t>Parse logs, fix</a:t>
            </a:r>
            <a:br/>
            <a:r>
              <a:t>errors, resubmit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CB0"/>
                </a:solidFill>
                <a:latin typeface="Calibri"/>
              </a:defRPr>
            </a:pPr>
            <a:r>
              <a:t>End-to-end: from experiment code to monitored cluster job, zero manual SBATCH writing.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4  |  HPC &amp; LOCAL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The "Auto-Healing"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Scenario: A parallel array job crashes with CUDA Out-of-Memory (OOM).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1.  Monitor Agent detects non-zero exit code, reads the .err log.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2.  Diagnosis: "RuntimeError: CUDA out of memory. Tried to allocate 2.4 GiB."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3.  Agent edits batch script: increases --mem or --gres=gpu allocation.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4.  Agent resubmits job, logs the change for the researcher.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5.  On success, proceeds to the analysis stage automatically.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1E3A5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Key: Every auto-fix is logged. Production runs require human sign-off.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5  |  DIRECT RESEARCH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Automated Energy Modeling &amp; Downscaling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Data Prep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Automates ERA5 / CMIP6 extraction.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Targets exact params: rsds, huss, tas, pr.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Handles CDS API auth, spatial subsetting, temporal alignment.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Output: analysis-ready NetCDF / Parquet.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Solver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Translates math formulation → solver code.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Supports HiGHS / Gurobi / CPLEX.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Validates constraint dimensions automatically.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Runs sensitivity analysis on key parameters.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5  |  DIRECT RESEARCH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Agents as Research Subjects: Climate Negotiation Sim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Multi-Agent Game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LLMs act as heterogeneous national actors.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Each agent: unique priorities, constraints, GDP, emissions.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Agents negotiate, form coalitions, propose treaties.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Beyond code gen — LLMs as subjects of social science.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Can LLM agents reach Pareto-efficient agreements?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How do injected biases shift negotiation outcomes?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Does agent architecture affect cooperation rates?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Can we model COP dynamics computationally?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6  |  PITFALLS, REALITIES &amp;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The Dangers of Autonomous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356616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Hallucinated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Solver returns "optimal" for the WRONG formulation.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Subtle sign errors in constraints.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Confident but incorrect API usage.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03120"/>
            <a:ext cx="356616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2452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Reproducibility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Dynamic bug fixes = untraceable changes.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Non-deterministic outputs across runs.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"It worked yesterday" syndrome.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566160" cy="38404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5008" y="2121408"/>
            <a:ext cx="64008" cy="380390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Cost &amp; Token Burn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Agent loops can burn $50+ in API calls.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Long context = expensive windows.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Budget guardrails are essential.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6  |  PITFALLS, REALITIES &amp;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The "Human-in-the-Loop" Mandate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Agents are co-pilots, NOT principal investigators.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Hard-code approval checkpoints in LangGraph.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No destructive commands without human sign-off.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All agent actions logged to git / W&amp;B / LangSmith.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B0C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2121408"/>
            <a:ext cx="64008" cy="407822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7DD8"/>
                </a:solidFill>
                <a:latin typeface="Calibri"/>
              </a:defRPr>
            </a:pPr>
            <a:r>
              <a:t>Reproducibility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Git-based agent traces (auto-commit each step).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temperature=0 + fixed seeds for determinism.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LangSmith / W&amp;B for full agent execution traces.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Version-pin model IDs (not just 'gpt-5').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SECTION 6  | 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3C"/>
                </a:solidFill>
                <a:latin typeface="Calibri"/>
              </a:defRPr>
            </a:pPr>
            <a:r>
              <a:t>Actionable Next Steps for Our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1.  Everyone: claim Cursor Pro (free, .edu) and Copilot Pro (free, GitHub edu pack).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2.  Set up a shared Anthropic API key with budget alerts ($100/$200 thresholds).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3.  Deploy one open-weight model on Great Lakes (vLLM + DeepSeek-V3).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4.  Build a shared RAG pipeline over our group's paper corpus (NotebookLM to start).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5.  Prototype one multi-agent workflow in LangGraph for a real experiment.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E3A5F"/>
                </a:solidFill>
                <a:latin typeface="Calibri"/>
              </a:rPr>
              <a:t>6.  Establish lab conventions: logging, checkpoints, cost budgets, model version pins.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5303520"/>
            <a:ext cx="5303520" cy="91440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53949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8B8"/>
                </a:solidFill>
                <a:latin typeface="Calibri"/>
              </a:defRPr>
            </a:pPr>
            <a: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3429</Words>
  <Application>Microsoft Macintosh PowerPoint</Application>
  <PresentationFormat>Widescreen</PresentationFormat>
  <Paragraphs>505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Ziqi Wei</cp:lastModifiedBy>
  <cp:revision>2</cp:revision>
  <dcterms:created xsi:type="dcterms:W3CDTF">2013-01-27T09:14:16Z</dcterms:created>
  <dcterms:modified xsi:type="dcterms:W3CDTF">2026-04-21T19:32:45Z</dcterms:modified>
  <cp:category/>
</cp:coreProperties>
</file>